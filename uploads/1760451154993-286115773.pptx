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sldIdLst>
    <p:sldId id="256" r:id="rId2"/>
    <p:sldId id="305" r:id="rId3"/>
    <p:sldId id="306" r:id="rId4"/>
    <p:sldId id="257" r:id="rId5"/>
    <p:sldId id="327" r:id="rId6"/>
    <p:sldId id="308" r:id="rId7"/>
    <p:sldId id="309" r:id="rId8"/>
    <p:sldId id="307" r:id="rId9"/>
    <p:sldId id="330" r:id="rId10"/>
    <p:sldId id="266" r:id="rId11"/>
    <p:sldId id="312" r:id="rId12"/>
    <p:sldId id="313" r:id="rId13"/>
    <p:sldId id="267" r:id="rId14"/>
    <p:sldId id="325" r:id="rId15"/>
    <p:sldId id="314" r:id="rId16"/>
    <p:sldId id="315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316" r:id="rId26"/>
    <p:sldId id="282" r:id="rId27"/>
    <p:sldId id="283" r:id="rId28"/>
    <p:sldId id="318" r:id="rId29"/>
    <p:sldId id="326" r:id="rId30"/>
    <p:sldId id="317" r:id="rId31"/>
    <p:sldId id="287" r:id="rId32"/>
    <p:sldId id="329" r:id="rId33"/>
    <p:sldId id="288" r:id="rId34"/>
    <p:sldId id="289" r:id="rId35"/>
    <p:sldId id="321" r:id="rId36"/>
    <p:sldId id="290" r:id="rId37"/>
    <p:sldId id="285" r:id="rId3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FC62681-58EC-754A-FB6D-D666FD50EB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FDC5CB3-E5E1-23DB-8EC1-43272920D2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2A0CA7B0-7222-454F-689E-749053693A9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0A421921-890D-CC6E-7F49-03D970CF857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EC56042C-EDC2-4229-A123-2DEA7B959A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981F4062-9EEA-697F-DC9E-88C3616A0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8BF5A15-ADA2-4F00-9214-FB7CAF5183C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0CC5229-90A6-0F5A-326E-E135A71CB9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23AA72B-D5D0-494A-9F17-67DABCC0DFFE}" type="slidenum">
              <a:rPr lang="en-US" altLang="en-US" sz="1200">
                <a:latin typeface="Arial" panose="020B0604020202020204" pitchFamily="34" charset="0"/>
              </a:rPr>
              <a:pPr eaLnBrk="1" hangingPunct="1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ADC29D4-00AE-F5FE-5FF7-8CA53A01F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5286B8C-8CCF-3A13-3313-BA01FF771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6D647A11-638C-370B-DA6E-74BE616CA4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D227468-7D9A-4E6A-AAE8-8774E81B7561}" type="slidenum">
              <a:rPr lang="en-US" altLang="en-US" sz="1200">
                <a:latin typeface="Arial" panose="020B0604020202020204" pitchFamily="34" charset="0"/>
              </a:rPr>
              <a:pPr eaLnBrk="1" hangingPunct="1"/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A747330-0820-839E-3017-8CEAB35579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F38BF2B-5687-EFB8-3256-B7FC4634E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BE3A557-4BD9-5F85-6EC3-711088382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51D4423-EE28-4407-9423-9DB2BF83F1CD}" type="slidenum">
              <a:rPr lang="en-US" altLang="en-US" sz="1200">
                <a:latin typeface="Arial" panose="020B0604020202020204" pitchFamily="34" charset="0"/>
              </a:rPr>
              <a:pPr eaLnBrk="1" hangingPunct="1"/>
              <a:t>10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8326DC9-96BF-307B-7B05-5E4BE6E29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2035179-6390-855C-F1DD-36AA60FFE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B02C32F2-009A-8927-B378-26E320AB83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168320C-3C95-44A4-A1AE-FCECD4EEDC96}" type="slidenum">
              <a:rPr lang="en-US" altLang="en-US" sz="1200">
                <a:latin typeface="Arial" panose="020B0604020202020204" pitchFamily="34" charset="0"/>
              </a:rPr>
              <a:pPr eaLnBrk="1" hangingPunct="1"/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C909D2D-E05E-A4F7-6D44-4CBCC370B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052CDDE-9432-7DDB-734E-800D0EDD9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DDFCB293-6294-3A79-2892-158A87ED8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E9F9B10-368C-4D60-AF30-A10E00F0EE82}" type="slidenum">
              <a:rPr lang="en-US" altLang="en-US" sz="1200">
                <a:latin typeface="Arial" panose="020B0604020202020204" pitchFamily="34" charset="0"/>
              </a:rPr>
              <a:pPr eaLnBrk="1" hangingPunct="1"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9726FF1-016C-EC58-73A1-8C201300C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6A4612C-1B72-941F-8A30-D7A48D11D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C7183127-0C22-6803-C448-B0DF9EF9A8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0192641-0013-470C-9158-AED1341E2F54}" type="slidenum">
              <a:rPr lang="en-US" altLang="en-US" sz="1200">
                <a:latin typeface="Arial" panose="020B0604020202020204" pitchFamily="34" charset="0"/>
              </a:rPr>
              <a:pPr eaLnBrk="1" hangingPunct="1"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AAA4EA28-03B8-EEF8-8F9E-D10CF1F21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892E39EE-0479-1AC5-CCE2-DD0B4FAEF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9CFDF5DD-4BDA-D35B-D457-6F95B894BA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63D9C5-EBD0-4B37-935D-4DB048B4423E}" type="slidenum">
              <a:rPr lang="en-US" altLang="en-US" sz="1200">
                <a:latin typeface="Arial" panose="020B0604020202020204" pitchFamily="34" charset="0"/>
              </a:rPr>
              <a:pPr eaLnBrk="1" hangingPunct="1"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298E3554-B9E5-87EE-6C7C-41A1EA64E0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27B24EE-2B98-19A5-3FF2-C6B7F4834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8E0E78C0-5C3C-BB8E-7D45-51AAD1D3B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5D84FCB-FC5D-4266-BB7D-CBAA3792E84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6930717-2461-6106-E4B3-698E7539D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EE2D5C51-63FC-F0D2-B3E9-5CAF304351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0AFC15B-E5C4-35FF-C6E5-A09DD3C15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D7A6D82-09EE-4C46-B17D-0A35F26FBF47}" type="slidenum">
              <a:rPr lang="en-US" altLang="en-US" sz="1200">
                <a:latin typeface="Arial" panose="020B0604020202020204" pitchFamily="34" charset="0"/>
              </a:rPr>
              <a:pPr eaLnBrk="1" hangingPunct="1"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2D36C78-C679-C605-97A3-59A2D7213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28319A6-9092-0C86-2339-A2082A486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7583F1C4-1932-D45F-DB2B-F4508C5B37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88D1F7B-241F-4D04-B68B-011DE33B3718}" type="slidenum">
              <a:rPr lang="en-US" altLang="en-US" sz="1200">
                <a:latin typeface="Arial" panose="020B0604020202020204" pitchFamily="34" charset="0"/>
              </a:rPr>
              <a:pPr eaLnBrk="1" hangingPunct="1"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010C7D5-5573-EE11-43C7-3EDADB419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3FC163AD-AD2B-C4AE-0096-7F5F8D7F1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2A7C812-FB11-ED78-A1B0-BD14533E08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C43712F-C24B-4413-965D-5E814DD0BE41}" type="slidenum">
              <a:rPr lang="en-US" altLang="en-US" sz="1200">
                <a:latin typeface="Arial" panose="020B0604020202020204" pitchFamily="34" charset="0"/>
              </a:rPr>
              <a:pPr eaLnBrk="1" hangingPunct="1"/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0E400E0-1A31-AECA-4521-EFADE2B77F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9365D2F-3D02-8354-E650-9F3D64ACA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65BC4B8C-8F87-61B0-AEDD-D6D023BE1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06935B5-1F50-4F70-9E0C-F2D987788CAD}" type="slidenum">
              <a:rPr lang="en-US" altLang="en-US" sz="1200">
                <a:latin typeface="Arial" panose="020B0604020202020204" pitchFamily="34" charset="0"/>
              </a:rPr>
              <a:pPr eaLnBrk="1" hangingPunct="1"/>
              <a:t>24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835637E5-C38B-FBF6-C959-F99FCAF37A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DB87EC4-9F98-89F0-A4F7-8507E368C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9168FCA-7D70-E3BF-696E-764A817282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A9E2B27-4E34-4A4C-B14F-36D3A09D5D0A}" type="slidenum">
              <a:rPr lang="en-US" altLang="en-US" sz="1200">
                <a:latin typeface="Arial" panose="020B0604020202020204" pitchFamily="34" charset="0"/>
              </a:rPr>
              <a:pPr eaLnBrk="1" hangingPunct="1"/>
              <a:t>26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50FADE4-5112-1B88-01B9-A9BEBCED37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D027C6A3-13A2-5560-C247-3D4394CB4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16F7B465-E255-9E2B-3964-E5599A348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229ED0B-D27C-443F-8C14-FCD73D0D54BD}" type="slidenum">
              <a:rPr lang="en-US" altLang="en-US" sz="1200">
                <a:latin typeface="Arial" panose="020B0604020202020204" pitchFamily="34" charset="0"/>
              </a:rPr>
              <a:pPr eaLnBrk="1" hangingPunct="1"/>
              <a:t>27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132EBC9-DB1C-E540-E2E7-A1EDF2116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4C644AC-A24F-C273-BEA0-B605B3EDC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11D1264-DC36-6325-9208-D3BF039ADC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C340BB6-BAD9-4A14-B330-CDBDCD3633D7}" type="slidenum">
              <a:rPr lang="en-US" altLang="en-US" sz="1200">
                <a:latin typeface="Arial" panose="020B0604020202020204" pitchFamily="34" charset="0"/>
              </a:rPr>
              <a:pPr eaLnBrk="1" hangingPunct="1"/>
              <a:t>31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58E28AB-48E7-CE79-9419-47AA83C03D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0BE408C4-24A1-929D-F589-B4D3A3C2C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D5FC6F1B-2443-8B79-310F-210BACFFA1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DBB492B-C822-4933-97C7-093E922D18BA}" type="slidenum">
              <a:rPr lang="en-US" altLang="en-US" sz="1200">
                <a:latin typeface="Arial" panose="020B0604020202020204" pitchFamily="34" charset="0"/>
              </a:rPr>
              <a:pPr eaLnBrk="1" hangingPunct="1"/>
              <a:t>33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267C2FC-CC29-EC86-D5AA-9B511C0657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49E9A6B-F5CC-D700-6484-B99FDDE7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8E675375-FE44-5EC2-273A-E516051D4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33129AA-EEF6-461A-8364-CAF384F60189}" type="slidenum">
              <a:rPr lang="en-US" altLang="en-US" sz="1200">
                <a:latin typeface="Arial" panose="020B0604020202020204" pitchFamily="34" charset="0"/>
              </a:rPr>
              <a:pPr eaLnBrk="1" hangingPunct="1"/>
              <a:t>34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ACAB480-B93B-C88B-9CCF-04B9BE322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7595F1A-7C43-5327-BB18-A2BB7501C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524D5BC9-2497-44C0-38F1-FCF1D1979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0E17B28-C79B-4647-92DC-817BAE5B42B3}" type="slidenum">
              <a:rPr lang="en-US" altLang="en-US" sz="1200">
                <a:latin typeface="Arial" panose="020B0604020202020204" pitchFamily="34" charset="0"/>
              </a:rPr>
              <a:pPr eaLnBrk="1" hangingPunct="1"/>
              <a:t>36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272B92F-AE35-4375-7A0C-B658D93530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DCFD8FC-DEF0-C900-FC4A-8A857A488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539ECA-A187-3295-7702-06DBE0A33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05CB20-F39F-1D81-D840-DF243E3FF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23A910-310C-27CB-7C10-0C195AD453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66D5B-7519-485F-B5CB-7F8C6F9A82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FECDA1-E71B-926F-429C-63B5785A5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C2F7A8-3260-0DFF-3E1C-557BF35274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DA4218-74C9-6D83-2524-B7A129C92F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807A35-D777-4F9E-8546-6074496F87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1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43E3DC-C9D1-D7A5-26CE-81678C31C3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610D3C-72E6-FDDC-D02B-D5DED06F6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757B0E-F939-E257-EBAE-6E5889D426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99E388-F305-4F17-B744-218F4A8E31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39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715000"/>
            <a:ext cx="4495800" cy="83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989CC-7EB7-4359-4699-98FAF89C0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B139FB-66CB-B8E3-891B-2512036279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530EF1-6496-7C88-C385-570ACDF7D9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AEAD57-2259-4F25-AD37-735387A7C2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78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56A7FB-D1DB-23A5-6096-733F85656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0CDA3D0-8E3C-A3FD-8D5D-8467178CF7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DA8A90C-4CAE-E1A9-FBAF-B86BEC46FB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32381D-B5E4-4055-9A4D-4556DE3684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73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6FB7470-D477-FCBC-A8A1-66F9B02B76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8705CB-F79C-3F22-8568-3A3ED4871F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026A79-B5BE-49EF-BB28-19673F2C3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8FD12-769E-4ADF-885D-51FD3F51A0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11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4D0F3A6-C8FD-6D8F-E0E2-CA0B04F1B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BDDE51C-75D1-85CD-B4C1-DD8060847D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CF601C-C613-7BCA-65C4-9F4450B74A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E97CB-F3B3-43A2-93EE-0E2A1153F2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749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9B472-A362-4DCC-4251-B324F5B65F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DF5AD-617A-39C4-BF66-8F450E2EA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ACA959-5512-4FDA-81ED-67B0C632FA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943939-4A56-41BB-A998-913A22FADA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596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29A73C-AC25-3E2D-E472-FA0C7D7494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006BC-BF02-C3CE-F95A-25073CE44B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75C343-6929-2A0C-0721-09BD179C4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F8991-B8C2-4435-8BC6-7F762A2315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001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D1B78E-6E74-8458-E242-9651A6B128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321200-C167-5D85-B721-C4DE1F4CD8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273188-4612-3DED-56A2-EB760FBE7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CD830B-B678-4AFD-930A-AB80B60C2B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19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496344-B5DD-C688-4907-D208C6EA50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CD641D-CE77-2394-B15B-3DA4539779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B0335E-B8A2-0C0E-FD36-5819D9989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B99A18-E7C7-425A-B544-15F72CAC13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2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56C193-D1A9-E97E-7F1C-00AA6F12CB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9C12BA-CE18-92B4-9B42-445D2B619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77DFD6E-8D11-9CC6-41C4-F32349410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E7594B6-8467-F458-2FD0-60946AA5BC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97650"/>
            <a:ext cx="9144000" cy="17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en-US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92710C1-2852-4ED0-A7B2-5357D1117EE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734A6D9-EF65-4D09-AC50-C02C9B9604E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charset="0"/>
        </a:defRPr>
      </a:lvl9pPr>
    </p:titleStyle>
    <p:bodyStyle>
      <a:lvl1pPr marL="609600" indent="-609600" algn="ctr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Times New Roman" pitchFamily="18" charset="0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4">
            <a:extLst>
              <a:ext uri="{FF2B5EF4-FFF2-40B4-BE49-F238E27FC236}">
                <a16:creationId xmlns:a16="http://schemas.microsoft.com/office/drawing/2014/main" id="{7EDC8084-6C1A-25F5-05D2-273810FB0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C2D04D7D-BF93-702B-3E98-B61A5C168D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50838"/>
            <a:ext cx="7772400" cy="50165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chemeClr val="tx1"/>
                </a:solidFill>
              </a:rPr>
              <a:t>DISTRIBUTED SYSTEMS</a:t>
            </a:r>
            <a:br>
              <a:rPr lang="en-US" altLang="en-US" sz="2400" dirty="0">
                <a:solidFill>
                  <a:schemeClr val="tx1"/>
                </a:solidFill>
              </a:rPr>
            </a:br>
            <a:r>
              <a:rPr lang="en-US" altLang="en-US" sz="2400" dirty="0">
                <a:solidFill>
                  <a:schemeClr val="tx1"/>
                </a:solidFill>
              </a:rPr>
              <a:t>Principles and Paradigms</a:t>
            </a:r>
            <a:br>
              <a:rPr lang="en-US" altLang="en-US" sz="2400" dirty="0">
                <a:solidFill>
                  <a:schemeClr val="tx1"/>
                </a:solidFill>
              </a:rPr>
            </a:br>
            <a:br>
              <a:rPr lang="en-US" altLang="en-US" dirty="0"/>
            </a:br>
            <a:r>
              <a:rPr lang="en-US" altLang="en-US" dirty="0"/>
              <a:t>Chapter 9</a:t>
            </a:r>
            <a:br>
              <a:rPr lang="en-US" altLang="en-US" dirty="0"/>
            </a:br>
            <a:r>
              <a:rPr lang="en-US" altLang="en-US" dirty="0"/>
              <a:t>Security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/>
              <a:t>IN Ezeji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B2E9EC2-29BF-5BE3-E806-EA63FF96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/>
              <a:t>Chapter Outline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9848F7A8-5945-114A-0A67-E0FCF456F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6175"/>
            <a:ext cx="9144000" cy="5407025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>
                <a:solidFill>
                  <a:srgbClr val="FF0000"/>
                </a:solidFill>
              </a:rPr>
              <a:t>Introduction to security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Secure Channels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Access Control</a:t>
            </a:r>
          </a:p>
          <a:p>
            <a:pPr marL="0" indent="0" algn="l" eaLnBrk="1" hangingPunct="1">
              <a:defRPr/>
            </a:pPr>
            <a:endParaRPr lang="en-ZA" sz="3600" dirty="0"/>
          </a:p>
        </p:txBody>
      </p:sp>
      <p:sp>
        <p:nvSpPr>
          <p:cNvPr id="3076" name="Footer Placeholder 3">
            <a:extLst>
              <a:ext uri="{FF2B5EF4-FFF2-40B4-BE49-F238E27FC236}">
                <a16:creationId xmlns:a16="http://schemas.microsoft.com/office/drawing/2014/main" id="{785E4BB3-C278-7D6E-DE1D-913358C9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7CBAA464-A5AF-F3CF-C291-352A5236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46138"/>
          </a:xfrm>
        </p:spPr>
        <p:txBody>
          <a:bodyPr/>
          <a:lstStyle/>
          <a:p>
            <a:pPr eaLnBrk="1" hangingPunct="1"/>
            <a:r>
              <a:rPr lang="en-ZA" altLang="en-US"/>
              <a:t>Introduction to security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385FE0D9-F7F0-8214-3939-ED7E16BE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7413"/>
            <a:ext cx="9144000" cy="5665787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Security in Distributed Systems can be roughly divided into two parts: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altLang="en-US" dirty="0"/>
              <a:t>Secure Channels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This deals with the communication between users and processes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This entails authentication of users, message integrity, and confidentiality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altLang="en-US" dirty="0"/>
              <a:t>Authorisation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Authorisation deals  with ensuring that processes get access to only those resources they are entitled to.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It is also loosely referred to access control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Secure channel and access control requires mechanisms to distribute cryptographic keys, and adding and removing users form systems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200" dirty="0"/>
              <a:t>These issues are addressed by what is known as Security Management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endParaRPr lang="en-ZA" altLang="en-US" dirty="0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F4D7390B-31ED-E526-48CF-1D8187BF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4">
            <a:extLst>
              <a:ext uri="{FF2B5EF4-FFF2-40B4-BE49-F238E27FC236}">
                <a16:creationId xmlns:a16="http://schemas.microsoft.com/office/drawing/2014/main" id="{4F2765A2-12B7-70D8-B431-241F9910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4AA2AB66-B394-4EBC-E5B0-B80D9FD6B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87413"/>
          </a:xfrm>
        </p:spPr>
        <p:txBody>
          <a:bodyPr/>
          <a:lstStyle/>
          <a:p>
            <a:pPr eaLnBrk="1" hangingPunct="1"/>
            <a:r>
              <a:rPr lang="en-US" altLang="en-US" sz="3200"/>
              <a:t>Security Threats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7B4B0BB-35EE-C197-4CAE-F555FC573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82663"/>
            <a:ext cx="9144000" cy="5540375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/>
              <a:t>One way of looking at security in DS is to view it from the point of protecting the services and data it offers against </a:t>
            </a:r>
            <a:r>
              <a:rPr lang="en-US" altLang="en-US" b="1"/>
              <a:t>security threats</a:t>
            </a:r>
            <a:r>
              <a:rPr lang="en-US" altLang="en-US"/>
              <a:t>.</a:t>
            </a:r>
          </a:p>
          <a:p>
            <a:pPr algn="l" eaLnBrk="1" hangingPunct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en-US"/>
              <a:t>Types of security threats to consider: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400"/>
              <a:t>Interception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An unauthorized party gains access to a service or data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200"/>
              <a:t>Interruption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/>
              <a:t>is a situation in which services/data become unavailable, unusable or destroyed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200"/>
              <a:t>Modification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/>
              <a:t>Unauthorized tampering with the data/services so that it no longer adheres to its original specification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200"/>
              <a:t>Fabrication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200"/>
              <a:t>Is when additional data/activity will be generated that would normally not exist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2EA7-623A-CE6B-C49B-ABC02F89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AFBDF2AE-3D50-9236-2938-2D7D8FBF2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46138"/>
          </a:xfrm>
        </p:spPr>
        <p:txBody>
          <a:bodyPr/>
          <a:lstStyle/>
          <a:p>
            <a:pPr eaLnBrk="1" hangingPunct="1"/>
            <a:r>
              <a:rPr lang="en-ZA" altLang="en-US" dirty="0"/>
              <a:t>Dependability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A9FAEC4D-15EC-C019-B0C3-DD2D6DCAF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7413"/>
            <a:ext cx="9144000" cy="5665787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dependable</a:t>
            </a:r>
            <a:r>
              <a:rPr lang="en-GB" sz="2400" spc="-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system provides</a:t>
            </a:r>
            <a:r>
              <a:rPr lang="en-GB" sz="2400" spc="-5" dirty="0">
                <a:latin typeface="Arial"/>
                <a:cs typeface="Arial"/>
              </a:rPr>
              <a:t> </a:t>
            </a:r>
            <a:r>
              <a:rPr lang="en-GB" sz="2400" b="1" spc="-20" dirty="0">
                <a:latin typeface="Arial"/>
                <a:cs typeface="Arial"/>
              </a:rPr>
              <a:t>availability,</a:t>
            </a:r>
            <a:r>
              <a:rPr lang="en-GB" sz="2400" b="1" dirty="0">
                <a:latin typeface="Arial"/>
                <a:cs typeface="Arial"/>
              </a:rPr>
              <a:t> </a:t>
            </a:r>
            <a:r>
              <a:rPr lang="en-GB" sz="2400" b="1" spc="-10" dirty="0">
                <a:latin typeface="Arial"/>
                <a:cs typeface="Arial"/>
              </a:rPr>
              <a:t>reliability,</a:t>
            </a:r>
            <a:r>
              <a:rPr lang="en-GB" sz="2400" b="1" spc="-5" dirty="0">
                <a:latin typeface="Arial"/>
                <a:cs typeface="Arial"/>
              </a:rPr>
              <a:t> </a:t>
            </a:r>
            <a:r>
              <a:rPr lang="en-GB" sz="2400" b="1" spc="-20" dirty="0">
                <a:latin typeface="Arial"/>
                <a:cs typeface="Arial"/>
              </a:rPr>
              <a:t>safety,</a:t>
            </a:r>
            <a:r>
              <a:rPr lang="en-GB" sz="2400" b="1" dirty="0">
                <a:latin typeface="Arial"/>
                <a:cs typeface="Arial"/>
              </a:rPr>
              <a:t> </a:t>
            </a:r>
            <a:r>
              <a:rPr lang="en-GB" sz="2400" b="1" spc="-10" dirty="0">
                <a:latin typeface="Arial"/>
                <a:cs typeface="Arial"/>
              </a:rPr>
              <a:t>maintainability, confidentiality</a:t>
            </a:r>
            <a:r>
              <a:rPr lang="en-GB" sz="2400" spc="-10" dirty="0">
                <a:latin typeface="Arial"/>
                <a:cs typeface="Arial"/>
              </a:rPr>
              <a:t>, </a:t>
            </a:r>
            <a:r>
              <a:rPr lang="en-GB" sz="2400" dirty="0">
                <a:latin typeface="Arial"/>
                <a:cs typeface="Arial"/>
              </a:rPr>
              <a:t>and</a:t>
            </a:r>
            <a:r>
              <a:rPr lang="en-GB" sz="2400" spc="-5" dirty="0">
                <a:latin typeface="Arial"/>
                <a:cs typeface="Arial"/>
              </a:rPr>
              <a:t> </a:t>
            </a:r>
            <a:r>
              <a:rPr lang="en-GB" sz="2400" b="1" spc="-10" dirty="0">
                <a:latin typeface="Arial"/>
                <a:cs typeface="Arial"/>
              </a:rPr>
              <a:t>integrity.</a:t>
            </a:r>
            <a:endParaRPr lang="en-GB" sz="2400" b="1" dirty="0">
              <a:latin typeface="Arial"/>
              <a:cs typeface="Arial"/>
            </a:endParaRP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altLang="en-US" dirty="0"/>
              <a:t>Confidentiality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GB" sz="2000" dirty="0">
                <a:latin typeface="Arial"/>
                <a:cs typeface="Arial"/>
              </a:rPr>
              <a:t>refers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to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the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property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that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information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is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disclosed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only</a:t>
            </a:r>
            <a:r>
              <a:rPr lang="en-GB" sz="2000" spc="-35" dirty="0">
                <a:latin typeface="Arial"/>
                <a:cs typeface="Arial"/>
              </a:rPr>
              <a:t> </a:t>
            </a:r>
            <a:r>
              <a:rPr lang="en-GB" sz="2000" spc="-25" dirty="0">
                <a:latin typeface="Arial"/>
                <a:cs typeface="Arial"/>
              </a:rPr>
              <a:t>to </a:t>
            </a:r>
            <a:r>
              <a:rPr lang="en-GB" sz="2000" dirty="0">
                <a:latin typeface="Arial"/>
                <a:cs typeface="Arial"/>
              </a:rPr>
              <a:t>authorized</a:t>
            </a:r>
            <a:r>
              <a:rPr lang="en-GB" sz="2000" spc="-55" dirty="0">
                <a:latin typeface="Arial"/>
                <a:cs typeface="Arial"/>
              </a:rPr>
              <a:t> </a:t>
            </a:r>
            <a:r>
              <a:rPr lang="en-GB" sz="2000" spc="-10" dirty="0">
                <a:latin typeface="Arial"/>
                <a:cs typeface="Arial"/>
              </a:rPr>
              <a:t>parties.</a:t>
            </a:r>
            <a:endParaRPr lang="en-ZA" altLang="en-US" sz="2000" dirty="0"/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altLang="en-US" dirty="0"/>
              <a:t>Integrity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GB" sz="2000" dirty="0">
                <a:latin typeface="Arial"/>
                <a:cs typeface="Arial"/>
              </a:rPr>
              <a:t>alterations</a:t>
            </a:r>
            <a:r>
              <a:rPr lang="en-GB" sz="2000" spc="-2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to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</a:t>
            </a:r>
            <a:r>
              <a:rPr lang="en-GB" sz="2000" spc="-20" dirty="0">
                <a:latin typeface="Arial"/>
                <a:cs typeface="Arial"/>
              </a:rPr>
              <a:t> </a:t>
            </a:r>
            <a:r>
              <a:rPr lang="en-GB" sz="2000" spc="-10" dirty="0">
                <a:latin typeface="Arial"/>
                <a:cs typeface="Arial"/>
              </a:rPr>
              <a:t>system’s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assets</a:t>
            </a:r>
            <a:r>
              <a:rPr lang="en-GB" sz="2000" spc="-2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can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be</a:t>
            </a:r>
            <a:r>
              <a:rPr lang="en-GB" sz="2000" spc="-2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made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only</a:t>
            </a:r>
            <a:r>
              <a:rPr lang="en-GB" sz="2000" spc="-2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in</a:t>
            </a:r>
            <a:r>
              <a:rPr lang="en-GB" sz="2000" spc="-25" dirty="0">
                <a:latin typeface="Arial"/>
                <a:cs typeface="Arial"/>
              </a:rPr>
              <a:t> an </a:t>
            </a:r>
            <a:r>
              <a:rPr lang="en-GB" sz="2000" dirty="0">
                <a:latin typeface="Arial"/>
                <a:cs typeface="Arial"/>
              </a:rPr>
              <a:t>authorized</a:t>
            </a:r>
            <a:r>
              <a:rPr lang="en-GB" sz="2000" spc="-40" dirty="0">
                <a:latin typeface="Arial"/>
                <a:cs typeface="Arial"/>
              </a:rPr>
              <a:t> way,</a:t>
            </a:r>
            <a:r>
              <a:rPr lang="en-GB" sz="2000" spc="-25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ensuring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accuracy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dirty="0">
                <a:latin typeface="Arial"/>
                <a:cs typeface="Arial"/>
              </a:rPr>
              <a:t>and</a:t>
            </a:r>
            <a:r>
              <a:rPr lang="en-GB" sz="2000" spc="-30" dirty="0">
                <a:latin typeface="Arial"/>
                <a:cs typeface="Arial"/>
              </a:rPr>
              <a:t> </a:t>
            </a:r>
            <a:r>
              <a:rPr lang="en-GB" sz="2000" spc="-10" dirty="0">
                <a:latin typeface="Arial"/>
                <a:cs typeface="Arial"/>
              </a:rPr>
              <a:t>completeness.</a:t>
            </a:r>
            <a:endParaRPr lang="en-ZA" altLang="en-US" sz="2000" dirty="0"/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altLang="en-US" dirty="0"/>
              <a:t>Availability</a:t>
            </a:r>
          </a:p>
          <a:p>
            <a:pPr lvl="2" eaLnBrk="1" hangingPunct="1">
              <a:buFont typeface="Wingdings" panose="05000000000000000000" pitchFamily="2" charset="2"/>
              <a:buChar char="v"/>
            </a:pPr>
            <a:r>
              <a:rPr lang="en-ZA" altLang="en-US" sz="2000" dirty="0"/>
              <a:t>Services are usable when needed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sz="2000" b="1" dirty="0"/>
              <a:t>MAP to threats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b="1" dirty="0"/>
              <a:t>Interception → confidentiality</a:t>
            </a:r>
            <a:r>
              <a:rPr lang="en-ZA" dirty="0"/>
              <a:t>,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b="1" dirty="0"/>
              <a:t>Modification/fabrication → integrity</a:t>
            </a:r>
            <a:r>
              <a:rPr lang="en-ZA" dirty="0"/>
              <a:t>,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ZA" b="1" dirty="0"/>
              <a:t>I</a:t>
            </a:r>
            <a:r>
              <a:rPr lang="en-ZA" sz="2000" b="1" dirty="0"/>
              <a:t>nterruption → availability</a:t>
            </a:r>
            <a:r>
              <a:rPr lang="en-ZA" sz="2000" dirty="0"/>
              <a:t>.</a:t>
            </a:r>
            <a:endParaRPr lang="en-ZA" altLang="en-US" sz="2000" dirty="0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7B4F0CF5-D346-6700-CE0D-21C9274D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  <p:extLst>
      <p:ext uri="{BB962C8B-B14F-4D97-AF65-F5344CB8AC3E}">
        <p14:creationId xmlns:p14="http://schemas.microsoft.com/office/powerpoint/2010/main" val="87389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10A51F2-BC7B-7CB7-401B-E9FCB69F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46138"/>
          </a:xfrm>
        </p:spPr>
        <p:txBody>
          <a:bodyPr/>
          <a:lstStyle/>
          <a:p>
            <a:pPr eaLnBrk="1" hangingPunct="1"/>
            <a:r>
              <a:rPr lang="en-ZA" altLang="en-US"/>
              <a:t>Security policy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F5CA9FBE-561A-8228-4773-41513336B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82612"/>
            <a:ext cx="9144000" cy="6015038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800" dirty="0"/>
              <a:t>Simply getting what security threats exist is not enough to build a secure system;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800" dirty="0"/>
              <a:t>A description of the security requirement is needed. A specification of the security requirements is known as the </a:t>
            </a:r>
            <a:r>
              <a:rPr lang="en-ZA" altLang="en-US" sz="2800" b="1" dirty="0"/>
              <a:t>security policy</a:t>
            </a:r>
            <a:r>
              <a:rPr lang="en-ZA" altLang="en-US" sz="2800" dirty="0"/>
              <a:t>;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800" dirty="0"/>
              <a:t>A security policy describes precisely which actions the entities in a system are allowed to take and which ones are prohibited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GB" sz="2800" dirty="0"/>
              <a:t>A security policy specifies </a:t>
            </a:r>
            <a:r>
              <a:rPr lang="en-GB" sz="2800" b="1" dirty="0"/>
              <a:t>who</a:t>
            </a:r>
            <a:r>
              <a:rPr lang="en-GB" sz="2800" dirty="0"/>
              <a:t> may perform </a:t>
            </a:r>
            <a:r>
              <a:rPr lang="en-GB" sz="2800" b="1" dirty="0"/>
              <a:t>which actions </a:t>
            </a:r>
            <a:r>
              <a:rPr lang="en-GB" sz="2800" dirty="0"/>
              <a:t>on </a:t>
            </a:r>
            <a:r>
              <a:rPr lang="en-GB" sz="2800" b="1" dirty="0"/>
              <a:t>which resources</a:t>
            </a:r>
            <a:r>
              <a:rPr lang="en-GB" sz="2800" dirty="0"/>
              <a:t>, </a:t>
            </a:r>
            <a:r>
              <a:rPr lang="en-GB" sz="2800" b="1" dirty="0"/>
              <a:t>under what conditions</a:t>
            </a:r>
            <a:r>
              <a:rPr lang="en-GB" sz="2800" dirty="0"/>
              <a:t>, and </a:t>
            </a:r>
            <a:r>
              <a:rPr lang="en-GB" sz="2800" b="1" dirty="0"/>
              <a:t>what must be audited</a:t>
            </a:r>
            <a:r>
              <a:rPr lang="en-GB" sz="2800" dirty="0"/>
              <a:t>.</a:t>
            </a:r>
            <a:endParaRPr lang="en-ZA" altLang="en-US" sz="2800" dirty="0"/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800" dirty="0"/>
              <a:t>To enforce a security policy, a </a:t>
            </a:r>
            <a:r>
              <a:rPr lang="en-ZA" altLang="en-US" sz="2800" b="1" dirty="0"/>
              <a:t>security mechanism</a:t>
            </a:r>
            <a:r>
              <a:rPr lang="en-ZA" altLang="en-US" sz="2800" dirty="0"/>
              <a:t>s is required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endParaRPr lang="en-ZA" altLang="en-US" sz="2800" dirty="0"/>
          </a:p>
        </p:txBody>
      </p:sp>
      <p:sp>
        <p:nvSpPr>
          <p:cNvPr id="6148" name="Footer Placeholder 3">
            <a:extLst>
              <a:ext uri="{FF2B5EF4-FFF2-40B4-BE49-F238E27FC236}">
                <a16:creationId xmlns:a16="http://schemas.microsoft.com/office/drawing/2014/main" id="{A7093C32-E946-D164-E4FC-0370E899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460AD65-8B2F-CB56-FAFA-E6B88F52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D6FF-82EB-4021-970E-818EFAB507EA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457E4190-D7D3-1EEB-7DC2-F8FBA7027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Key Point</a:t>
            </a:r>
            <a:endParaRPr lang="en-GB" altLang="en-US" dirty="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D8D1FD-5E6B-1B45-13DE-680AD6582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5450" y="931985"/>
            <a:ext cx="8413750" cy="5773615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IE" altLang="en-US" dirty="0"/>
              <a:t>Online Exam System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IE" altLang="en-US" dirty="0"/>
              <a:t>Exam Access By Student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GB" b="1" dirty="0"/>
              <a:t>Policy =</a:t>
            </a:r>
            <a:r>
              <a:rPr lang="en-GB" dirty="0"/>
              <a:t> </a:t>
            </a:r>
            <a:r>
              <a:rPr lang="en-GB" i="1" dirty="0">
                <a:highlight>
                  <a:srgbClr val="FFFF00"/>
                </a:highlight>
              </a:rPr>
              <a:t>who</a:t>
            </a:r>
            <a:r>
              <a:rPr lang="en-GB" dirty="0"/>
              <a:t> / </a:t>
            </a:r>
            <a:r>
              <a:rPr lang="en-GB" i="1" dirty="0">
                <a:highlight>
                  <a:srgbClr val="00FF00"/>
                </a:highlight>
              </a:rPr>
              <a:t>action</a:t>
            </a:r>
            <a:r>
              <a:rPr lang="en-GB" dirty="0">
                <a:highlight>
                  <a:srgbClr val="00FF00"/>
                </a:highlight>
              </a:rPr>
              <a:t> </a:t>
            </a:r>
            <a:r>
              <a:rPr lang="en-GB" dirty="0"/>
              <a:t>/ </a:t>
            </a:r>
            <a:r>
              <a:rPr lang="en-GB" i="1" dirty="0">
                <a:highlight>
                  <a:srgbClr val="00FFFF"/>
                </a:highlight>
              </a:rPr>
              <a:t>resource</a:t>
            </a:r>
            <a:r>
              <a:rPr lang="en-GB" dirty="0"/>
              <a:t> / </a:t>
            </a:r>
            <a:r>
              <a:rPr lang="en-GB" i="1" dirty="0">
                <a:highlight>
                  <a:srgbClr val="FF00FF"/>
                </a:highlight>
              </a:rPr>
              <a:t>conditions</a:t>
            </a:r>
            <a:r>
              <a:rPr lang="en-GB" dirty="0"/>
              <a:t> / </a:t>
            </a:r>
            <a:r>
              <a:rPr lang="en-GB" i="1" dirty="0">
                <a:highlight>
                  <a:srgbClr val="008080"/>
                </a:highlight>
              </a:rPr>
              <a:t>audit</a:t>
            </a:r>
            <a:endParaRPr lang="en-IE" i="1" dirty="0">
              <a:highlight>
                <a:srgbClr val="008080"/>
              </a:highlight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GB" b="1" dirty="0"/>
              <a:t>Policy example:</a:t>
            </a:r>
            <a:r>
              <a:rPr lang="en-GB" dirty="0"/>
              <a:t> “Only </a:t>
            </a:r>
            <a:r>
              <a:rPr lang="en-GB" dirty="0">
                <a:highlight>
                  <a:srgbClr val="FFFF00"/>
                </a:highlight>
              </a:rPr>
              <a:t>enrolled students</a:t>
            </a:r>
            <a:r>
              <a:rPr lang="en-GB" dirty="0"/>
              <a:t> may </a:t>
            </a:r>
            <a:r>
              <a:rPr lang="en-GB" dirty="0">
                <a:highlight>
                  <a:srgbClr val="00FF00"/>
                </a:highlight>
              </a:rPr>
              <a:t>start and submit </a:t>
            </a:r>
            <a:r>
              <a:rPr lang="en-GB" dirty="0">
                <a:highlight>
                  <a:srgbClr val="00FFFF"/>
                </a:highlight>
              </a:rPr>
              <a:t>Exam X</a:t>
            </a:r>
            <a:r>
              <a:rPr lang="en-GB" dirty="0"/>
              <a:t> </a:t>
            </a:r>
            <a:r>
              <a:rPr lang="en-GB" dirty="0">
                <a:highlight>
                  <a:srgbClr val="FF00FF"/>
                </a:highlight>
              </a:rPr>
              <a:t>within the scheduled window from an approved device and location</a:t>
            </a:r>
            <a:r>
              <a:rPr lang="en-GB" dirty="0"/>
              <a:t>, </a:t>
            </a:r>
            <a:r>
              <a:rPr lang="en-GB" dirty="0">
                <a:highlight>
                  <a:srgbClr val="FF00FF"/>
                </a:highlight>
              </a:rPr>
              <a:t>with at most one active session</a:t>
            </a:r>
            <a:r>
              <a:rPr lang="en-GB" dirty="0"/>
              <a:t>; </a:t>
            </a:r>
            <a:r>
              <a:rPr lang="en-GB" i="1" dirty="0">
                <a:highlight>
                  <a:srgbClr val="008080"/>
                </a:highlight>
              </a:rPr>
              <a:t>all attempts and submissions must be logged with user, device ID, IP, times, and upload hashes</a:t>
            </a:r>
            <a:r>
              <a:rPr lang="en-GB" dirty="0"/>
              <a:t>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GB" dirty="0"/>
              <a:t>Publishing Marks?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GB" dirty="0"/>
              <a:t>Immediate Mark viewing?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5B565C88-961D-9C09-E6DB-5208607D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/>
              <a:t>Security Mechanisms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B714ADCA-DF30-126D-5793-8EBE2299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8725"/>
            <a:ext cx="9144000" cy="5324475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ZA" altLang="en-US" sz="2800" dirty="0"/>
              <a:t>Following are some important security mechanisms: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ZA" altLang="en-US" sz="2400" dirty="0"/>
              <a:t>Encryption</a:t>
            </a:r>
          </a:p>
          <a:p>
            <a:pPr lvl="2" eaLnBrk="1" hangingPunct="1"/>
            <a:r>
              <a:rPr lang="en-ZA" altLang="en-US" sz="2000" dirty="0"/>
              <a:t>Transforms the data into a form the attacker can not understand</a:t>
            </a:r>
          </a:p>
          <a:p>
            <a:pPr lvl="2" eaLnBrk="1" hangingPunct="1"/>
            <a:r>
              <a:rPr lang="en-ZA" altLang="en-US" sz="2000" dirty="0"/>
              <a:t>It also helps to check whether data has been modified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ZA" altLang="en-US" sz="2400" dirty="0"/>
              <a:t>Authentication</a:t>
            </a:r>
          </a:p>
          <a:p>
            <a:pPr lvl="2" eaLnBrk="1" hangingPunct="1"/>
            <a:r>
              <a:rPr lang="en-ZA" altLang="en-US" sz="2000" dirty="0"/>
              <a:t>Used to verify the claimed identity of the user, client, server, host or any other entity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ZA" altLang="en-US" sz="2400" dirty="0"/>
              <a:t>Authorisation</a:t>
            </a:r>
          </a:p>
          <a:p>
            <a:pPr lvl="2" eaLnBrk="1" hangingPunct="1"/>
            <a:r>
              <a:rPr lang="en-ZA" altLang="en-US" sz="2000" dirty="0"/>
              <a:t>Checks whether the client is authorised to perform the action requested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ZA" altLang="en-US" sz="2400" dirty="0"/>
              <a:t>Monitoring and Auditing</a:t>
            </a:r>
          </a:p>
          <a:p>
            <a:pPr lvl="2" eaLnBrk="1" hangingPunct="1"/>
            <a:r>
              <a:rPr lang="en-ZA" altLang="en-US" sz="2000" dirty="0"/>
              <a:t>Used to trace which clients accessed what and in which way.</a:t>
            </a:r>
          </a:p>
          <a:p>
            <a:pPr algn="l" eaLnBrk="1" hangingPunct="1"/>
            <a:endParaRPr lang="en-ZA" altLang="en-US" dirty="0"/>
          </a:p>
        </p:txBody>
      </p:sp>
      <p:sp>
        <p:nvSpPr>
          <p:cNvPr id="7172" name="Footer Placeholder 3">
            <a:extLst>
              <a:ext uri="{FF2B5EF4-FFF2-40B4-BE49-F238E27FC236}">
                <a16:creationId xmlns:a16="http://schemas.microsoft.com/office/drawing/2014/main" id="{1D134B9C-DB20-37ED-2F88-1EE72B48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71B1-A0D0-29F6-BD0D-1FA6DB28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867A262-EE18-7B58-F709-BD2B6A61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Authentication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A4BD251F-D293-FAD7-D7BE-1B3170781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9637"/>
            <a:ext cx="9144000" cy="5775325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GB" sz="2800" spc="-20" dirty="0">
                <a:latin typeface="Arial"/>
                <a:cs typeface="Arial"/>
              </a:rPr>
              <a:t>Verifying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dirty="0">
                <a:latin typeface="Arial"/>
                <a:cs typeface="Arial"/>
              </a:rPr>
              <a:t>the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spc="-10" dirty="0">
                <a:latin typeface="Arial"/>
                <a:cs typeface="Arial"/>
              </a:rPr>
              <a:t>claimed</a:t>
            </a:r>
            <a:r>
              <a:rPr lang="en-GB" sz="2800" spc="-20" dirty="0">
                <a:latin typeface="Arial"/>
                <a:cs typeface="Arial"/>
              </a:rPr>
              <a:t> </a:t>
            </a:r>
            <a:r>
              <a:rPr lang="en-GB" sz="2800" spc="-10" dirty="0">
                <a:latin typeface="Arial"/>
                <a:cs typeface="Arial"/>
              </a:rPr>
              <a:t>identity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dirty="0">
                <a:latin typeface="Arial"/>
                <a:cs typeface="Arial"/>
              </a:rPr>
              <a:t>of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dirty="0">
                <a:latin typeface="Arial"/>
                <a:cs typeface="Arial"/>
              </a:rPr>
              <a:t>a</a:t>
            </a:r>
            <a:r>
              <a:rPr lang="en-GB" sz="2800" spc="-20" dirty="0">
                <a:latin typeface="Arial"/>
                <a:cs typeface="Arial"/>
              </a:rPr>
              <a:t> </a:t>
            </a:r>
            <a:r>
              <a:rPr lang="en-GB" sz="2800" spc="-10" dirty="0">
                <a:latin typeface="Arial"/>
                <a:cs typeface="Arial"/>
              </a:rPr>
              <a:t>person,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dirty="0">
                <a:latin typeface="Arial"/>
                <a:cs typeface="Arial"/>
              </a:rPr>
              <a:t>a</a:t>
            </a:r>
            <a:r>
              <a:rPr lang="en-GB" sz="2800" spc="-20" dirty="0">
                <a:latin typeface="Arial"/>
                <a:cs typeface="Arial"/>
              </a:rPr>
              <a:t> </a:t>
            </a:r>
            <a:r>
              <a:rPr lang="en-GB" sz="2800" spc="-10" dirty="0">
                <a:latin typeface="Arial"/>
                <a:cs typeface="Arial"/>
              </a:rPr>
              <a:t>software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spc="-10" dirty="0">
                <a:latin typeface="Arial"/>
                <a:cs typeface="Arial"/>
              </a:rPr>
              <a:t>component,</a:t>
            </a:r>
            <a:r>
              <a:rPr lang="en-GB" sz="2800" spc="-25" dirty="0">
                <a:latin typeface="Arial"/>
                <a:cs typeface="Arial"/>
              </a:rPr>
              <a:t> </a:t>
            </a:r>
            <a:r>
              <a:rPr lang="en-GB" sz="2800" dirty="0">
                <a:latin typeface="Arial"/>
                <a:cs typeface="Arial"/>
              </a:rPr>
              <a:t>a</a:t>
            </a:r>
            <a:r>
              <a:rPr lang="en-GB" sz="2800" spc="-20" dirty="0">
                <a:latin typeface="Arial"/>
                <a:cs typeface="Arial"/>
              </a:rPr>
              <a:t> device,</a:t>
            </a:r>
            <a:r>
              <a:rPr lang="en-GB" sz="2800" spc="-25" dirty="0">
                <a:latin typeface="Arial"/>
                <a:cs typeface="Arial"/>
              </a:rPr>
              <a:t> and </a:t>
            </a:r>
            <a:r>
              <a:rPr lang="en-GB" sz="2800" dirty="0">
                <a:latin typeface="Arial"/>
                <a:cs typeface="Arial"/>
              </a:rPr>
              <a:t>so</a:t>
            </a:r>
            <a:r>
              <a:rPr lang="en-GB" sz="2800" spc="-15" dirty="0">
                <a:latin typeface="Arial"/>
                <a:cs typeface="Arial"/>
              </a:rPr>
              <a:t> </a:t>
            </a:r>
            <a:r>
              <a:rPr lang="en-GB" sz="2800" spc="-25" dirty="0">
                <a:latin typeface="Arial"/>
                <a:cs typeface="Arial"/>
              </a:rPr>
              <a:t>on.</a:t>
            </a:r>
            <a:endParaRPr lang="en-GB" sz="2800" dirty="0">
              <a:latin typeface="Arial"/>
              <a:cs typeface="Arial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ZA" sz="2800" dirty="0">
                <a:solidFill>
                  <a:srgbClr val="3333B2"/>
                </a:solidFill>
                <a:latin typeface="Arial"/>
                <a:cs typeface="Arial"/>
              </a:rPr>
              <a:t>Means</a:t>
            </a:r>
            <a:r>
              <a:rPr lang="en-ZA" sz="28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ZA" sz="2800" i="1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lang="en-ZA" sz="28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ZA" sz="2800" i="1" spc="-10" dirty="0">
                <a:solidFill>
                  <a:srgbClr val="3333B2"/>
                </a:solidFill>
                <a:latin typeface="Arial"/>
                <a:cs typeface="Arial"/>
              </a:rPr>
              <a:t>authentication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what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client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knows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such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as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password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or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personal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identification</a:t>
            </a:r>
            <a:r>
              <a:rPr lang="en-GB" sz="2400" spc="-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number</a:t>
            </a:r>
            <a:r>
              <a:rPr lang="en-GB" sz="2400" spc="-10" dirty="0">
                <a:latin typeface="Arial"/>
                <a:cs typeface="Arial"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what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client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has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such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as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an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ID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card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cell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phone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or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software token</a:t>
            </a:r>
            <a:r>
              <a:rPr lang="en-GB" sz="2400" spc="-10" dirty="0">
                <a:latin typeface="Arial"/>
                <a:cs typeface="Arial"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what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client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i.e.,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static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biometrics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such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as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fingerprint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spc="-25" dirty="0">
                <a:latin typeface="Arial"/>
                <a:cs typeface="Arial"/>
              </a:rPr>
              <a:t>or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facial</a:t>
            </a:r>
            <a:r>
              <a:rPr lang="en-GB" sz="2400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characteristics</a:t>
            </a:r>
            <a:r>
              <a:rPr lang="en-GB" sz="2400" spc="-10" dirty="0">
                <a:latin typeface="Arial"/>
                <a:cs typeface="Arial"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what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client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does</a:t>
            </a:r>
            <a:r>
              <a:rPr lang="en-GB" sz="2400" dirty="0">
                <a:latin typeface="Arial"/>
                <a:cs typeface="Arial"/>
              </a:rPr>
              <a:t>,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i.e.,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dynamic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biometrics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such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as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voice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patterns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or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typing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patterns</a:t>
            </a:r>
            <a:r>
              <a:rPr lang="en-GB" sz="2400" spc="-10" dirty="0">
                <a:latin typeface="Arial"/>
                <a:cs typeface="Arial"/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GB" sz="2400" spc="-10" dirty="0">
                <a:latin typeface="Arial"/>
                <a:cs typeface="Arial"/>
              </a:rPr>
              <a:t>Based on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r>
              <a:rPr lang="en-GB" sz="2400" spc="-10" dirty="0">
                <a:latin typeface="Arial"/>
                <a:cs typeface="Arial"/>
              </a:rPr>
              <a:t>, </a:t>
            </a:r>
            <a:r>
              <a:rPr lang="en-GB" sz="2400" dirty="0">
                <a:latin typeface="Arial"/>
                <a:cs typeface="Arial"/>
              </a:rPr>
              <a:t>Examples: IP addresses or geographical location data, though this is less reliable for direct authentication. 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GB" sz="2400" dirty="0">
              <a:latin typeface="Arial"/>
              <a:cs typeface="Arial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ZA" altLang="en-US" sz="3200" dirty="0"/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D53697B3-ACD0-0FBC-4FCA-D208F2F6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  <p:extLst>
      <p:ext uri="{BB962C8B-B14F-4D97-AF65-F5344CB8AC3E}">
        <p14:creationId xmlns:p14="http://schemas.microsoft.com/office/powerpoint/2010/main" val="251179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7F6FDB5E-AAF6-2DE5-DD27-CA2F5C68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5392C56-7186-67F4-D9A2-433567EA1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Cryptography (1)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C7C04D5-AE82-7F6C-1C76-2FCEDA169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Intruders and eavesdroppers in communication.</a:t>
            </a:r>
          </a:p>
        </p:txBody>
      </p:sp>
      <p:pic>
        <p:nvPicPr>
          <p:cNvPr id="8197" name="Picture 4" descr="09-06">
            <a:extLst>
              <a:ext uri="{FF2B5EF4-FFF2-40B4-BE49-F238E27FC236}">
                <a16:creationId xmlns:a16="http://schemas.microsoft.com/office/drawing/2014/main" id="{26248E12-CB61-8D69-F374-73D52EDEA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398588"/>
            <a:ext cx="8145463" cy="386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CA5A9FAA-3CE9-88B3-39F9-EB385CB9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Cryptography(2)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BE8F18CD-F459-A9A4-3E9D-4935C60E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2700"/>
            <a:ext cx="9144000" cy="527050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In cryptography the aim is protection against the following  3 attacks: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/>
              <a:t>Message interception</a:t>
            </a:r>
          </a:p>
          <a:p>
            <a:pPr lvl="2"/>
            <a:r>
              <a:rPr lang="en-ZA" altLang="en-US"/>
              <a:t>Without a proper key the intruder will see only unintelligable data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/>
              <a:t>Message modification</a:t>
            </a:r>
          </a:p>
          <a:p>
            <a:pPr lvl="2"/>
            <a:r>
              <a:rPr lang="en-ZA" altLang="en-US"/>
              <a:t>Without first decrypting the message the intruder cannot meaningfully modify the message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/>
              <a:t>Insertion of encrypted message</a:t>
            </a:r>
          </a:p>
          <a:p>
            <a:pPr lvl="2"/>
            <a:r>
              <a:rPr lang="en-ZA" altLang="en-US"/>
              <a:t>If an intruder cannot meaningfully modify the message he also cannot meanigfully insert messages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3CD453E7-F4A4-4414-6610-61AD06A9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71CFE98D-D82F-BDD7-F899-5B9927B4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5213"/>
          </a:xfrm>
        </p:spPr>
        <p:txBody>
          <a:bodyPr/>
          <a:lstStyle/>
          <a:p>
            <a:r>
              <a:rPr lang="en-US" altLang="en-US"/>
              <a:t>Cryptography (3)</a:t>
            </a:r>
            <a:endParaRPr lang="en-ZA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07F51732-D94E-1728-63A6-59C0CC0FF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0925"/>
            <a:ext cx="9144000" cy="5502275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 sz="2800"/>
              <a:t>There are two different types of Cryptography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 sz="2800"/>
              <a:t>Symmetric  Cryptography</a:t>
            </a:r>
          </a:p>
          <a:p>
            <a:pPr lvl="2"/>
            <a:r>
              <a:rPr lang="en-ZA" altLang="en-US" sz="2800"/>
              <a:t>The same key is used to encrypt and decrypt a message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 sz="2800"/>
              <a:t>Asymmetric Cryptography (Public-key systems)</a:t>
            </a:r>
          </a:p>
          <a:p>
            <a:pPr lvl="2"/>
            <a:r>
              <a:rPr lang="en-ZA" altLang="en-US" sz="2800"/>
              <a:t>Separate keys are used for encryption and decryption</a:t>
            </a:r>
          </a:p>
          <a:p>
            <a:pPr lvl="2"/>
            <a:r>
              <a:rPr lang="en-ZA" altLang="en-US" sz="2800"/>
              <a:t>The following notation is used:</a:t>
            </a:r>
          </a:p>
          <a:p>
            <a:pPr lvl="3"/>
            <a:r>
              <a:rPr lang="en-ZA" altLang="en-US" sz="2800"/>
              <a:t>K</a:t>
            </a:r>
            <a:r>
              <a:rPr lang="en-ZA" altLang="en-US" sz="2800" baseline="30000"/>
              <a:t>+</a:t>
            </a:r>
            <a:r>
              <a:rPr lang="en-ZA" altLang="en-US" sz="2800" baseline="-25000"/>
              <a:t>A</a:t>
            </a:r>
            <a:r>
              <a:rPr lang="en-ZA" altLang="en-US" sz="2800"/>
              <a:t>: public key belonging to A</a:t>
            </a:r>
          </a:p>
          <a:p>
            <a:pPr lvl="3"/>
            <a:r>
              <a:rPr lang="en-ZA" altLang="en-US" sz="2800"/>
              <a:t>K</a:t>
            </a:r>
            <a:r>
              <a:rPr lang="en-ZA" altLang="en-US" sz="2800" baseline="30000"/>
              <a:t>-</a:t>
            </a:r>
            <a:r>
              <a:rPr lang="en-ZA" altLang="en-US" sz="2800" baseline="-25000"/>
              <a:t>A</a:t>
            </a:r>
            <a:r>
              <a:rPr lang="en-ZA" altLang="en-US" sz="2800"/>
              <a:t>: private key belonging to A</a:t>
            </a:r>
          </a:p>
          <a:p>
            <a:pPr lvl="2">
              <a:buFont typeface="Wingdings" panose="05000000000000000000" pitchFamily="2" charset="2"/>
              <a:buChar char="v"/>
            </a:pPr>
            <a:endParaRPr lang="en-ZA" altLang="en-US" sz="2800"/>
          </a:p>
        </p:txBody>
      </p:sp>
      <p:sp>
        <p:nvSpPr>
          <p:cNvPr id="10244" name="Footer Placeholder 3">
            <a:extLst>
              <a:ext uri="{FF2B5EF4-FFF2-40B4-BE49-F238E27FC236}">
                <a16:creationId xmlns:a16="http://schemas.microsoft.com/office/drawing/2014/main" id="{95B3185B-CE23-4D82-DA3C-80091120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E1C5A148-8A46-B847-AC6B-49961611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AA2B153-A8DE-8B9B-EB47-2CFE35DCE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Cryptography (4)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B2D2DE2-D80F-4B74-1D92-5A7E80A1E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Notation used in this chapter.</a:t>
            </a:r>
          </a:p>
        </p:txBody>
      </p:sp>
      <p:pic>
        <p:nvPicPr>
          <p:cNvPr id="11269" name="Picture 4" descr="09-07T">
            <a:extLst>
              <a:ext uri="{FF2B5EF4-FFF2-40B4-BE49-F238E27FC236}">
                <a16:creationId xmlns:a16="http://schemas.microsoft.com/office/drawing/2014/main" id="{C2301978-D43B-17AC-2EF6-E204087E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2222500"/>
            <a:ext cx="6149975" cy="236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2835BEA-A40B-BB8A-4A2D-3ABD00C5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/>
              <a:t>Chapter Outline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FC3B4A24-3328-6B9B-7D82-0B5679CEC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6175"/>
            <a:ext cx="9144000" cy="5407025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Introduction to security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>
                <a:solidFill>
                  <a:srgbClr val="FF0000"/>
                </a:solidFill>
              </a:rPr>
              <a:t>Secure Channels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Access Control</a:t>
            </a:r>
          </a:p>
          <a:p>
            <a:pPr marL="0" indent="0" algn="l" eaLnBrk="1" hangingPunct="1">
              <a:defRPr/>
            </a:pPr>
            <a:endParaRPr lang="en-ZA" sz="3600" dirty="0"/>
          </a:p>
        </p:txBody>
      </p:sp>
      <p:sp>
        <p:nvSpPr>
          <p:cNvPr id="12292" name="Footer Placeholder 3">
            <a:extLst>
              <a:ext uri="{FF2B5EF4-FFF2-40B4-BE49-F238E27FC236}">
                <a16:creationId xmlns:a16="http://schemas.microsoft.com/office/drawing/2014/main" id="{68007BF0-2160-B52F-32C8-7A48FC90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5E81C54-BBF3-8D61-E6C0-B91E571A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Secure Channels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F65C7F04-6497-0B19-B7F1-99ADFA039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1738"/>
            <a:ext cx="9144000" cy="5351462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Concentrate on the following two issues: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/>
              <a:t>Authentication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ZA" altLang="en-US"/>
              <a:t>Message Integrity and Confidentiality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Authentication and message integrity cannot do without each other;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Before two parties can communicate a channel is first established through authentication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After authentication data integrity and confidentiality come into play. They are achieved through the use of session keys;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 session key is a shared (secret) key that is used to encrypt  messages for a given session;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 session key is only valid as long as the channel exists</a:t>
            </a:r>
          </a:p>
        </p:txBody>
      </p:sp>
      <p:sp>
        <p:nvSpPr>
          <p:cNvPr id="13316" name="Footer Placeholder 3">
            <a:extLst>
              <a:ext uri="{FF2B5EF4-FFF2-40B4-BE49-F238E27FC236}">
                <a16:creationId xmlns:a16="http://schemas.microsoft.com/office/drawing/2014/main" id="{FD1F4AFD-8AF4-6CDE-32B4-D66C24EC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938"/>
            <a:ext cx="9144000" cy="174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966D14F-8C32-5449-4835-D7B333D3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Authentication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80946B38-EBB7-B3D0-55C3-B9DCB990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6950"/>
            <a:ext cx="9144000" cy="5556250"/>
          </a:xfrm>
        </p:spPr>
        <p:txBody>
          <a:bodyPr/>
          <a:lstStyle/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ZA" altLang="en-US" sz="3200"/>
              <a:t>Authentication Based on a Shared Secret Key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ZA" altLang="en-US" sz="3200"/>
              <a:t>Authentication using a Key Distribution Center</a:t>
            </a:r>
          </a:p>
          <a:p>
            <a:pPr algn="l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ZA" altLang="en-US" sz="3200"/>
              <a:t>Authentication using Public-Key Cryptography</a:t>
            </a:r>
          </a:p>
        </p:txBody>
      </p:sp>
      <p:sp>
        <p:nvSpPr>
          <p:cNvPr id="14340" name="Footer Placeholder 3">
            <a:extLst>
              <a:ext uri="{FF2B5EF4-FFF2-40B4-BE49-F238E27FC236}">
                <a16:creationId xmlns:a16="http://schemas.microsoft.com/office/drawing/2014/main" id="{E6B334A3-1CDA-062E-DB0D-A57792F8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CAC25F93-C059-4FBE-BA79-F52AD99B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AA80894-EB38-997A-AA39-189AFADD0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Authentication Based on a Shared Secret Key (1)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52B4443-9DE4-75BC-266A-4CDF01896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500688"/>
            <a:ext cx="9144000" cy="1052512"/>
          </a:xfrm>
        </p:spPr>
        <p:txBody>
          <a:bodyPr/>
          <a:lstStyle/>
          <a:p>
            <a:pPr eaLnBrk="1" hangingPunct="1"/>
            <a:r>
              <a:rPr lang="en-US" altLang="en-US" dirty="0"/>
              <a:t>Authentication based on a </a:t>
            </a:r>
            <a:r>
              <a:rPr lang="en-US" altLang="en-US" b="1" dirty="0"/>
              <a:t>shared secret key</a:t>
            </a:r>
            <a:r>
              <a:rPr lang="en-US" altLang="en-US" dirty="0"/>
              <a:t>: Challenge-response protocol</a:t>
            </a:r>
          </a:p>
        </p:txBody>
      </p:sp>
      <p:pic>
        <p:nvPicPr>
          <p:cNvPr id="15365" name="Picture 4" descr="09-12">
            <a:extLst>
              <a:ext uri="{FF2B5EF4-FFF2-40B4-BE49-F238E27FC236}">
                <a16:creationId xmlns:a16="http://schemas.microsoft.com/office/drawing/2014/main" id="{E7AAC502-F243-C785-8F6C-B1DE2336A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1106488"/>
            <a:ext cx="626427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>
            <a:extLst>
              <a:ext uri="{FF2B5EF4-FFF2-40B4-BE49-F238E27FC236}">
                <a16:creationId xmlns:a16="http://schemas.microsoft.com/office/drawing/2014/main" id="{99814A6D-824A-615A-0038-CD8AFC8C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BFCFC2D-FAFC-00BA-8B27-6522A75DB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87413"/>
          </a:xfrm>
        </p:spPr>
        <p:txBody>
          <a:bodyPr/>
          <a:lstStyle/>
          <a:p>
            <a:pPr eaLnBrk="1" hangingPunct="1"/>
            <a:r>
              <a:rPr lang="en-US" altLang="en-US" sz="3200"/>
              <a:t>Authentication Based on a Shared Secret Key (2)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8F578E6-D71D-331F-499F-293BB0C10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Authentication based on a shared </a:t>
            </a:r>
            <a:br>
              <a:rPr lang="en-US" altLang="en-US"/>
            </a:br>
            <a:r>
              <a:rPr lang="en-US" altLang="en-US"/>
              <a:t>secret key, but using three instead of five messages.</a:t>
            </a:r>
          </a:p>
        </p:txBody>
      </p:sp>
      <p:pic>
        <p:nvPicPr>
          <p:cNvPr id="16389" name="Picture 4" descr="09-13">
            <a:extLst>
              <a:ext uri="{FF2B5EF4-FFF2-40B4-BE49-F238E27FC236}">
                <a16:creationId xmlns:a16="http://schemas.microsoft.com/office/drawing/2014/main" id="{09EE744C-7A67-72A6-D6BB-F69F693B6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1204913"/>
            <a:ext cx="6126163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D4D34F2B-8945-F332-138D-85C439932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5FC8AC0-5444-3FD0-F70D-CF305A383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Authentication Based on a Shared Secret Key (3)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0E45DED-744C-7C66-CEF8-78C1D22CB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553074"/>
            <a:ext cx="9144000" cy="900479"/>
          </a:xfrm>
        </p:spPr>
        <p:txBody>
          <a:bodyPr/>
          <a:lstStyle/>
          <a:p>
            <a:pPr eaLnBrk="1" hangingPunct="1"/>
            <a:r>
              <a:rPr lang="en-US" altLang="en-US" dirty="0"/>
              <a:t>The reflection attack:</a:t>
            </a:r>
            <a:r>
              <a:rPr lang="en-US" altLang="zh-TW" sz="2400" dirty="0"/>
              <a:t> Chuck wants Bob to think he is Alice, so he starts up a second session to </a:t>
            </a:r>
            <a:r>
              <a:rPr lang="en-US" altLang="zh-TW" sz="2400" i="1" dirty="0"/>
              <a:t>trick </a:t>
            </a:r>
            <a:r>
              <a:rPr lang="en-US" altLang="zh-TW" sz="2400" dirty="0"/>
              <a:t>Bob.</a:t>
            </a:r>
            <a:endParaRPr lang="en-US" altLang="en-US" dirty="0"/>
          </a:p>
        </p:txBody>
      </p:sp>
      <p:pic>
        <p:nvPicPr>
          <p:cNvPr id="17413" name="Picture 4" descr="09-14">
            <a:extLst>
              <a:ext uri="{FF2B5EF4-FFF2-40B4-BE49-F238E27FC236}">
                <a16:creationId xmlns:a16="http://schemas.microsoft.com/office/drawing/2014/main" id="{1A67FB1F-5F7D-154F-9F18-254D2CBC0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88" y="1651000"/>
            <a:ext cx="7508875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594F8206-41BA-3077-33A1-E21304FD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32E48CB-FE40-5AA8-FE22-9A1A77F9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46138"/>
          </a:xfrm>
        </p:spPr>
        <p:txBody>
          <a:bodyPr/>
          <a:lstStyle/>
          <a:p>
            <a:pPr eaLnBrk="1" hangingPunct="1"/>
            <a:r>
              <a:rPr lang="en-US" altLang="en-US" sz="2800"/>
              <a:t>Authentication Using a Key Distribution Center (1)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B10C8FB-FDF5-EBC9-5997-583D3852C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889375"/>
            <a:ext cx="9144000" cy="2663825"/>
          </a:xfrm>
        </p:spPr>
        <p:txBody>
          <a:bodyPr/>
          <a:lstStyle/>
          <a:p>
            <a:pPr eaLnBrk="1" hangingPunct="1"/>
            <a:r>
              <a:rPr lang="en-US" altLang="en-US"/>
              <a:t>The principle of using a KDC.</a:t>
            </a:r>
          </a:p>
          <a:p>
            <a:pPr algn="l" eaLnBrk="1" hangingPunct="1"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algn="l" eaLnBrk="1" hangingPunct="1">
              <a:buFont typeface="Wingdings" panose="05000000000000000000" pitchFamily="2" charset="2"/>
              <a:buChar char="§"/>
            </a:pPr>
            <a:r>
              <a:rPr lang="en-US" altLang="en-US" sz="2000"/>
              <a:t>The main challenge with this protocol is Alice may want to start setting up a secure channel with Bob even before Bob had received the shared key from the KDC. </a:t>
            </a:r>
          </a:p>
          <a:p>
            <a:pPr algn="l" eaLnBrk="1" hangingPunct="1">
              <a:buFont typeface="Wingdings" panose="05000000000000000000" pitchFamily="2" charset="2"/>
              <a:buChar char="§"/>
            </a:pPr>
            <a:r>
              <a:rPr lang="en-US" altLang="en-US" sz="2000"/>
              <a:t>One solution to this problem is to let Alice make a connection to Bob by herself</a:t>
            </a:r>
          </a:p>
        </p:txBody>
      </p:sp>
      <p:pic>
        <p:nvPicPr>
          <p:cNvPr id="18437" name="Picture 4" descr="09-15">
            <a:extLst>
              <a:ext uri="{FF2B5EF4-FFF2-40B4-BE49-F238E27FC236}">
                <a16:creationId xmlns:a16="http://schemas.microsoft.com/office/drawing/2014/main" id="{3BE9A965-F589-2BF2-17E6-479D0F115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738" y="1196975"/>
            <a:ext cx="64579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423E5E08-1E5F-9AA3-75F6-755761258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E05BE82-F03A-04DB-9C91-39A3FF139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00113"/>
          </a:xfrm>
        </p:spPr>
        <p:txBody>
          <a:bodyPr/>
          <a:lstStyle/>
          <a:p>
            <a:pPr eaLnBrk="1" hangingPunct="1"/>
            <a:r>
              <a:rPr lang="en-US" altLang="en-US" sz="2800"/>
              <a:t>Authentication Using a Key Distribution Center (2)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8BF1EAB-4484-BC4C-5D7A-936C5250B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216400"/>
            <a:ext cx="9144000" cy="2336800"/>
          </a:xfrm>
        </p:spPr>
        <p:txBody>
          <a:bodyPr/>
          <a:lstStyle/>
          <a:p>
            <a:pPr eaLnBrk="1" hangingPunct="1"/>
            <a:r>
              <a:rPr lang="en-US" altLang="en-US" sz="2000"/>
              <a:t>Using a ticket and letting Alice set up a connection to Bob.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endParaRPr lang="en-US" altLang="en-US" sz="2000"/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 sz="2000"/>
              <a:t>This protocol is a variant to the well-known example of an authentication protocol using KDC, the Needham-Schroeder  authentication protocol.</a:t>
            </a:r>
          </a:p>
        </p:txBody>
      </p:sp>
      <p:pic>
        <p:nvPicPr>
          <p:cNvPr id="19461" name="Picture 4" descr="09-16">
            <a:extLst>
              <a:ext uri="{FF2B5EF4-FFF2-40B4-BE49-F238E27FC236}">
                <a16:creationId xmlns:a16="http://schemas.microsoft.com/office/drawing/2014/main" id="{89961FCF-663C-EE4C-4D55-E3A94B374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1214438"/>
            <a:ext cx="6132513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D26F4B6A-1053-DC7F-0FE9-3DBAA002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5EB8D31-B798-FED8-D3BB-48A57ED44B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73125"/>
          </a:xfrm>
        </p:spPr>
        <p:txBody>
          <a:bodyPr/>
          <a:lstStyle/>
          <a:p>
            <a:pPr eaLnBrk="1" hangingPunct="1"/>
            <a:r>
              <a:rPr lang="en-US" altLang="en-US" sz="3200"/>
              <a:t>Authentication Using a Key Distribution Center (3)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5138F64-3CCD-B81E-47A1-8A691E3849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203700"/>
            <a:ext cx="9144000" cy="2349500"/>
          </a:xfrm>
        </p:spPr>
        <p:txBody>
          <a:bodyPr/>
          <a:lstStyle/>
          <a:p>
            <a:pPr eaLnBrk="1" hangingPunct="1"/>
            <a:r>
              <a:rPr lang="en-US" altLang="en-US"/>
              <a:t>The Needham-Schroeder authentication protocol.</a:t>
            </a:r>
          </a:p>
          <a:p>
            <a:pPr algn="l" eaLnBrk="1" hangingPunct="1"/>
            <a:endParaRPr lang="en-US" altLang="en-US" sz="2000"/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 sz="2000"/>
              <a:t>The concept of a nonce is introduced to uniquely relate request and response messages to each other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 sz="2000"/>
              <a:t>Messages 1 and 2 are protected, but an intruder can replay message  3 and get Bob to think he communicating with Alice</a:t>
            </a:r>
          </a:p>
          <a:p>
            <a:pPr eaLnBrk="1" hangingPunct="1"/>
            <a:endParaRPr lang="en-US" altLang="en-US"/>
          </a:p>
        </p:txBody>
      </p:sp>
      <p:pic>
        <p:nvPicPr>
          <p:cNvPr id="20485" name="Picture 4" descr="09-17">
            <a:extLst>
              <a:ext uri="{FF2B5EF4-FFF2-40B4-BE49-F238E27FC236}">
                <a16:creationId xmlns:a16="http://schemas.microsoft.com/office/drawing/2014/main" id="{39D281D5-9B0F-AD18-167A-FD54BA233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279525"/>
            <a:ext cx="7091363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>
            <a:extLst>
              <a:ext uri="{FF2B5EF4-FFF2-40B4-BE49-F238E27FC236}">
                <a16:creationId xmlns:a16="http://schemas.microsoft.com/office/drawing/2014/main" id="{6C47DAA5-8F60-5B87-AE1B-3DA8760AF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6DF99CA-1B51-92CF-6260-4E8AB62D2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Authentication Using a Key Distribution Center (4)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469124EB-806B-1C80-2CCF-4B319ED37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Protection against malicious reuse of a previously generated key in the Needham-Schroeder protocol.</a:t>
            </a:r>
          </a:p>
        </p:txBody>
      </p:sp>
      <p:pic>
        <p:nvPicPr>
          <p:cNvPr id="21509" name="Picture 4" descr="09-18">
            <a:extLst>
              <a:ext uri="{FF2B5EF4-FFF2-40B4-BE49-F238E27FC236}">
                <a16:creationId xmlns:a16="http://schemas.microsoft.com/office/drawing/2014/main" id="{63DCF4D8-A32B-0A5F-A367-E8837AA77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201738"/>
            <a:ext cx="7808912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>
            <a:extLst>
              <a:ext uri="{FF2B5EF4-FFF2-40B4-BE49-F238E27FC236}">
                <a16:creationId xmlns:a16="http://schemas.microsoft.com/office/drawing/2014/main" id="{3288ED6F-92CA-828C-6FD6-3C24D5742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52B1439-45E9-971E-3D2F-7F02A5A27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Authentication Using Public Key Cryptography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FD5CC38-C423-5643-19C1-7A9858732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Mutual authentication in a public-key cryptosystem.</a:t>
            </a:r>
          </a:p>
        </p:txBody>
      </p:sp>
      <p:pic>
        <p:nvPicPr>
          <p:cNvPr id="22533" name="Picture 4" descr="09-19">
            <a:extLst>
              <a:ext uri="{FF2B5EF4-FFF2-40B4-BE49-F238E27FC236}">
                <a16:creationId xmlns:a16="http://schemas.microsoft.com/office/drawing/2014/main" id="{373CCB8B-85B0-4A82-6CB7-D2C3889A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1943100"/>
            <a:ext cx="7099300" cy="29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1ADF63F-4BB6-789C-4B9E-7F37D15A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 sz="3600"/>
              <a:t>Message Integrity and Confidentiality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9ADA055-92A5-E9A0-4EB5-74D6CDD7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3938"/>
            <a:ext cx="9144000" cy="5529262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Besides authentication a secure channel should also provide guarantees for message integrity and confidentiality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Confidentiality is easily established through  encryption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However, protecting messages against  modifications is more complicated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Digital signatures are used to ensure integrity of messages exchanged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There are several ways of placing digital signatures on messages, which include:</a:t>
            </a:r>
          </a:p>
          <a:p>
            <a:pPr lvl="1"/>
            <a:r>
              <a:rPr lang="en-ZA" altLang="en-US"/>
              <a:t>Public Key Cryptography</a:t>
            </a:r>
          </a:p>
          <a:p>
            <a:pPr lvl="1"/>
            <a:r>
              <a:rPr lang="en-ZA" altLang="en-US"/>
              <a:t>Use of message digests</a:t>
            </a:r>
          </a:p>
          <a:p>
            <a:pPr lvl="1"/>
            <a:r>
              <a:rPr lang="en-ZA" altLang="en-US"/>
              <a:t>Use of session keys</a:t>
            </a:r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933F84F8-48F6-C1C4-DC24-A9C66B8F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5186D49E-EC21-37AA-D1C2-BCF33207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2D46842-EC0F-2E44-EFE1-FF74DA429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 Signatures (1)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4436780-D565-9957-0138-225261BC0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357813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/>
              <a:t>Digitally signing a message using public-key cryptography.</a:t>
            </a:r>
          </a:p>
        </p:txBody>
      </p:sp>
      <p:pic>
        <p:nvPicPr>
          <p:cNvPr id="24581" name="Picture 4" descr="09-20">
            <a:extLst>
              <a:ext uri="{FF2B5EF4-FFF2-40B4-BE49-F238E27FC236}">
                <a16:creationId xmlns:a16="http://schemas.microsoft.com/office/drawing/2014/main" id="{CBBE473E-5748-7AB5-8136-232E26191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141538"/>
            <a:ext cx="8391525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5AAE94CF-0A34-CF51-7322-96C51475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B773B06-94C6-5345-4762-77214623F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 Signatures (2)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5164D69E-586D-95D9-6659-3F0E121C4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Digitally signing a message using a message digest.</a:t>
            </a:r>
          </a:p>
        </p:txBody>
      </p:sp>
      <p:pic>
        <p:nvPicPr>
          <p:cNvPr id="25605" name="Picture 4" descr="09-21">
            <a:extLst>
              <a:ext uri="{FF2B5EF4-FFF2-40B4-BE49-F238E27FC236}">
                <a16:creationId xmlns:a16="http://schemas.microsoft.com/office/drawing/2014/main" id="{6D430159-67E1-0CA9-6D33-CF08A8DFF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1754188"/>
            <a:ext cx="8543925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4FFA102-C05A-7A34-47E3-B0F0E0C0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41388"/>
          </a:xfrm>
        </p:spPr>
        <p:txBody>
          <a:bodyPr/>
          <a:lstStyle/>
          <a:p>
            <a:r>
              <a:rPr lang="en-ZA" altLang="en-US"/>
              <a:t>Session Keys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8FDF40CF-C20D-192E-13E4-E450B922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8688"/>
            <a:ext cx="9144000" cy="5624512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After the authentication phase the communicating parties generally use a unique shared session key for confidentiality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The session key is safely discarded when the channel is no longer in use.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An alternative to session keys is to use the key allocated during authentication, but the use of session keys has a lot of important advantages: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altLang="en-US"/>
              <a:t>When a key is used often it becomes easier to reveal it.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altLang="en-US"/>
              <a:t>Provides protection against replay attacks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ZA" altLang="en-US"/>
              <a:t>If such a key is compromised damage is limited to only that session </a:t>
            </a:r>
          </a:p>
        </p:txBody>
      </p:sp>
      <p:sp>
        <p:nvSpPr>
          <p:cNvPr id="26628" name="Footer Placeholder 3">
            <a:extLst>
              <a:ext uri="{FF2B5EF4-FFF2-40B4-BE49-F238E27FC236}">
                <a16:creationId xmlns:a16="http://schemas.microsoft.com/office/drawing/2014/main" id="{2590106B-5B2B-8C29-BB71-06EAA4E5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24BB64D-474E-BADE-1A18-7809D048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ZA" altLang="en-US"/>
              <a:t>Chapter Outline</a:t>
            </a:r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45485A2D-CBED-B6D1-B992-D1FD60D25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6175"/>
            <a:ext cx="9144000" cy="5407025"/>
          </a:xfrm>
        </p:spPr>
        <p:txBody>
          <a:bodyPr/>
          <a:lstStyle/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Introduction to security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/>
              <a:t>Secure Channels</a:t>
            </a:r>
          </a:p>
          <a:p>
            <a:pPr algn="l" eaLnBrk="1" hangingPunct="1">
              <a:buFont typeface="Wingdings" pitchFamily="2" charset="2"/>
              <a:buChar char="v"/>
              <a:defRPr/>
            </a:pPr>
            <a:endParaRPr lang="en-ZA" sz="3600" dirty="0"/>
          </a:p>
          <a:p>
            <a:pPr algn="l" eaLnBrk="1" hangingPunct="1">
              <a:buFont typeface="Wingdings" pitchFamily="2" charset="2"/>
              <a:buChar char="v"/>
              <a:defRPr/>
            </a:pPr>
            <a:r>
              <a:rPr lang="en-ZA" sz="3600" dirty="0">
                <a:solidFill>
                  <a:srgbClr val="FF0000"/>
                </a:solidFill>
              </a:rPr>
              <a:t>Access Control</a:t>
            </a:r>
          </a:p>
          <a:p>
            <a:pPr marL="0" indent="0" algn="l" eaLnBrk="1" hangingPunct="1">
              <a:defRPr/>
            </a:pPr>
            <a:endParaRPr lang="en-ZA" sz="3600" dirty="0"/>
          </a:p>
        </p:txBody>
      </p:sp>
      <p:sp>
        <p:nvSpPr>
          <p:cNvPr id="27652" name="Footer Placeholder 3">
            <a:extLst>
              <a:ext uri="{FF2B5EF4-FFF2-40B4-BE49-F238E27FC236}">
                <a16:creationId xmlns:a16="http://schemas.microsoft.com/office/drawing/2014/main" id="{128429D4-0DB8-EC42-DB8A-77F2B617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C611CDD-9550-040E-45C7-BE31AE94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Access Control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660B8B4F-EDF1-2351-824C-6E425E554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4900"/>
            <a:ext cx="9144000" cy="544830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ZA" altLang="en-US" sz="3200"/>
              <a:t>Requests involve carrying operations on resources that are controlled by the server;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 sz="3200"/>
              <a:t>These operations can only be carried out if the client has sufficient access rights for invoking them;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 sz="3200"/>
              <a:t>Verifying access rights is referred as </a:t>
            </a:r>
            <a:r>
              <a:rPr lang="en-ZA" altLang="en-US" sz="3200" b="1"/>
              <a:t>access control</a:t>
            </a:r>
            <a:r>
              <a:rPr lang="en-ZA" altLang="en-US" sz="3200"/>
              <a:t>;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 sz="3200"/>
              <a:t> Granting these access rights in referred to as </a:t>
            </a:r>
            <a:r>
              <a:rPr lang="en-ZA" altLang="en-US" sz="3200" b="1"/>
              <a:t>authorisation</a:t>
            </a:r>
            <a:r>
              <a:rPr lang="en-ZA" altLang="en-US" sz="3200"/>
              <a:t>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ZA" altLang="en-US" sz="3200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 sz="3200"/>
          </a:p>
        </p:txBody>
      </p:sp>
      <p:sp>
        <p:nvSpPr>
          <p:cNvPr id="28676" name="Footer Placeholder 3">
            <a:extLst>
              <a:ext uri="{FF2B5EF4-FFF2-40B4-BE49-F238E27FC236}">
                <a16:creationId xmlns:a16="http://schemas.microsoft.com/office/drawing/2014/main" id="{041A366B-AF3E-4E21-E3D6-179CC2ED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63DFD8E2-ED83-19EB-40FA-B5E64062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7E47F11-0207-1913-9A7F-ABED83375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General Issues in Access Control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BA621F9-2563-0E81-B422-C9EC1FFF9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467100"/>
            <a:ext cx="9144000" cy="3086100"/>
          </a:xfrm>
        </p:spPr>
        <p:txBody>
          <a:bodyPr/>
          <a:lstStyle/>
          <a:p>
            <a:pPr eaLnBrk="1" hangingPunct="1"/>
            <a:r>
              <a:rPr lang="en-US" altLang="en-US"/>
              <a:t>General model of controlling access to objects.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endParaRPr lang="en-US" altLang="en-US" sz="1100"/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A reference monitor: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records which subject may do what;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decides whether a subject is allowed to invoke a specific operation.</a:t>
            </a: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Is called each time an object is invoked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It is therefore important that the reference monitor be tamperproof</a:t>
            </a:r>
          </a:p>
        </p:txBody>
      </p:sp>
      <p:pic>
        <p:nvPicPr>
          <p:cNvPr id="29701" name="Picture 4" descr="09-25">
            <a:extLst>
              <a:ext uri="{FF2B5EF4-FFF2-40B4-BE49-F238E27FC236}">
                <a16:creationId xmlns:a16="http://schemas.microsoft.com/office/drawing/2014/main" id="{FB3D6D4B-104C-8221-67D2-E03D5265F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" y="1498600"/>
            <a:ext cx="7862888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E525-3574-38D4-94F6-142EB292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B3F7243-552A-C6FA-5B2A-8EA55C4A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/>
              <a:t>Access Control Matrix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2DD24D8D-F0E6-8D3F-FB64-B80B12A53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463"/>
            <a:ext cx="9144000" cy="5392737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altLang="en-US"/>
              <a:t>Access Control Matrix is a common approach to modelling the access rights of subjects with respect to objects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It is not economical implement a big matrix with thousands of users and millions of objects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Many entries in the matrix will be empty.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ZA" altLang="en-US"/>
              <a:t>More efficient ways of implementing these matrices are needed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ZA" altLang="en-US"/>
          </a:p>
        </p:txBody>
      </p:sp>
      <p:sp>
        <p:nvSpPr>
          <p:cNvPr id="30724" name="Footer Placeholder 3">
            <a:extLst>
              <a:ext uri="{FF2B5EF4-FFF2-40B4-BE49-F238E27FC236}">
                <a16:creationId xmlns:a16="http://schemas.microsoft.com/office/drawing/2014/main" id="{AF29328B-E45B-6299-02B7-9454F6E1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5BBB05A2-9181-3DDA-166E-CB3902799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265363"/>
            <a:ext cx="613410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716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41400331-91F6-7F93-3B58-6A808B0A8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DA34C4C-02D8-8518-167B-5ACD00790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Access Control Matrix (1)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35127CE-240F-2DA2-2859-EF5F5CFC8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145088"/>
            <a:ext cx="9144000" cy="1365250"/>
          </a:xfrm>
        </p:spPr>
        <p:txBody>
          <a:bodyPr/>
          <a:lstStyle/>
          <a:p>
            <a:pPr eaLnBrk="1" hangingPunct="1"/>
            <a:r>
              <a:rPr lang="en-US" altLang="en-US"/>
              <a:t>Comparison between ACLs and capabilities for protecting objects. (a) Using an ACL. </a:t>
            </a:r>
          </a:p>
          <a:p>
            <a:pPr eaLnBrk="1" hangingPunct="1"/>
            <a:endParaRPr lang="en-US" altLang="en-US" sz="1600"/>
          </a:p>
        </p:txBody>
      </p:sp>
      <p:pic>
        <p:nvPicPr>
          <p:cNvPr id="31749" name="Picture 4" descr="09-26">
            <a:extLst>
              <a:ext uri="{FF2B5EF4-FFF2-40B4-BE49-F238E27FC236}">
                <a16:creationId xmlns:a16="http://schemas.microsoft.com/office/drawing/2014/main" id="{ED17A150-A3F7-E29E-BE5D-721FBC5F6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622"/>
          <a:stretch>
            <a:fillRect/>
          </a:stretch>
        </p:blipFill>
        <p:spPr bwMode="auto">
          <a:xfrm>
            <a:off x="709613" y="1901825"/>
            <a:ext cx="7573962" cy="321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>
            <a:extLst>
              <a:ext uri="{FF2B5EF4-FFF2-40B4-BE49-F238E27FC236}">
                <a16:creationId xmlns:a16="http://schemas.microsoft.com/office/drawing/2014/main" id="{FFFFE358-D0A9-215D-5CFE-88EF413C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A3F641B-D54E-D1C8-E87B-176FE9F3A7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31850"/>
          </a:xfrm>
        </p:spPr>
        <p:txBody>
          <a:bodyPr/>
          <a:lstStyle/>
          <a:p>
            <a:pPr eaLnBrk="1" hangingPunct="1"/>
            <a:r>
              <a:rPr lang="en-US" altLang="en-US"/>
              <a:t>Access Control Matrix (2)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3C60CDCA-7613-CDDF-7DB7-AED935C3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794125"/>
            <a:ext cx="9144000" cy="2759075"/>
          </a:xfrm>
        </p:spPr>
        <p:txBody>
          <a:bodyPr/>
          <a:lstStyle/>
          <a:p>
            <a:pPr eaLnBrk="1" hangingPunct="1"/>
            <a:r>
              <a:rPr lang="en-US" altLang="en-US"/>
              <a:t> Comparison between ACLs and capabilities for protecting objects. (b) Using capabilities.</a:t>
            </a:r>
          </a:p>
          <a:p>
            <a:pPr eaLnBrk="1" hangingPunct="1"/>
            <a:endParaRPr lang="en-US" altLang="en-US" sz="1600"/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 sz="2000"/>
              <a:t>ACL or capability lists can still become too large that further measures need to be taken. </a:t>
            </a:r>
          </a:p>
          <a:p>
            <a:pPr algn="l" eaLnBrk="1" hangingPunct="1">
              <a:buFont typeface="Wingdings" panose="05000000000000000000" pitchFamily="2" charset="2"/>
              <a:buChar char="v"/>
            </a:pPr>
            <a:r>
              <a:rPr lang="en-US" altLang="en-US" sz="2000"/>
              <a:t>One general way is to make use of protection domains</a:t>
            </a:r>
          </a:p>
        </p:txBody>
      </p:sp>
      <p:pic>
        <p:nvPicPr>
          <p:cNvPr id="32773" name="Picture 4" descr="09-26">
            <a:extLst>
              <a:ext uri="{FF2B5EF4-FFF2-40B4-BE49-F238E27FC236}">
                <a16:creationId xmlns:a16="http://schemas.microsoft.com/office/drawing/2014/main" id="{35C30A1F-D5D2-ED9A-B8FD-310D78EA1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76"/>
          <a:stretch>
            <a:fillRect/>
          </a:stretch>
        </p:blipFill>
        <p:spPr bwMode="auto">
          <a:xfrm>
            <a:off x="652463" y="863600"/>
            <a:ext cx="7386637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6EFDF3C5-D8A1-FBDF-ED31-84A5C0642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altLang="en-US" dirty="0"/>
              <a:t>Access Control Policies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854EB56F-1B58-116A-2A88-4E791A3A2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0463"/>
            <a:ext cx="9144000" cy="5392737"/>
          </a:xfrm>
        </p:spPr>
        <p:txBody>
          <a:bodyPr/>
          <a:lstStyle/>
          <a:p>
            <a:pPr marL="354965" marR="193675" indent="-342900" algn="l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Wingdings" panose="05000000000000000000" pitchFamily="2" charset="2"/>
              <a:buChar char="v"/>
              <a:tabLst>
                <a:tab pos="171450" algn="l"/>
              </a:tabLst>
            </a:pP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Mandatory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lang="en-GB" sz="24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lang="en-GB" sz="2400" dirty="0">
                <a:latin typeface="Arial"/>
                <a:cs typeface="Arial"/>
              </a:rPr>
              <a:t>:</a:t>
            </a:r>
            <a:r>
              <a:rPr lang="en-GB" sz="2400" spc="4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central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administration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defines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who</a:t>
            </a:r>
            <a:r>
              <a:rPr lang="en-GB" sz="2400" spc="-15" dirty="0">
                <a:latin typeface="Arial"/>
                <a:cs typeface="Arial"/>
              </a:rPr>
              <a:t> </a:t>
            </a:r>
            <a:r>
              <a:rPr lang="en-GB" sz="2400" spc="-20" dirty="0">
                <a:latin typeface="Arial"/>
                <a:cs typeface="Arial"/>
              </a:rPr>
              <a:t>gets </a:t>
            </a:r>
            <a:r>
              <a:rPr lang="en-GB" sz="2400" dirty="0">
                <a:latin typeface="Arial"/>
                <a:cs typeface="Arial"/>
              </a:rPr>
              <a:t>access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to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what.</a:t>
            </a:r>
            <a:endParaRPr lang="en-GB" dirty="0">
              <a:latin typeface="Arial"/>
              <a:cs typeface="Arial"/>
            </a:endParaRPr>
          </a:p>
          <a:p>
            <a:pPr marL="354965" marR="193675" indent="-342900" algn="l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Wingdings" panose="05000000000000000000" pitchFamily="2" charset="2"/>
              <a:buChar char="v"/>
              <a:tabLst>
                <a:tab pos="171450" algn="l"/>
              </a:tabLst>
            </a:pP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Discretionary</a:t>
            </a:r>
            <a:r>
              <a:rPr lang="en-GB" sz="24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lang="en-GB" sz="24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lang="en-GB" sz="2400" dirty="0">
                <a:latin typeface="Arial"/>
                <a:cs typeface="Arial"/>
              </a:rPr>
              <a:t>:</a:t>
            </a:r>
            <a:r>
              <a:rPr lang="en-GB" sz="2400" spc="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The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owner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of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an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object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can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change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access </a:t>
            </a:r>
            <a:r>
              <a:rPr lang="en-GB" sz="2400" dirty="0">
                <a:latin typeface="Arial"/>
                <a:cs typeface="Arial"/>
              </a:rPr>
              <a:t>rights,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but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also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who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may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have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access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to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that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object.</a:t>
            </a:r>
            <a:endParaRPr lang="en-GB" dirty="0">
              <a:latin typeface="Arial"/>
              <a:cs typeface="Arial"/>
            </a:endParaRPr>
          </a:p>
          <a:p>
            <a:pPr marL="354965" marR="193675" indent="-342900" algn="l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Wingdings" panose="05000000000000000000" pitchFamily="2" charset="2"/>
              <a:buChar char="v"/>
              <a:tabLst>
                <a:tab pos="171450" algn="l"/>
              </a:tabLst>
            </a:pP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Role-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lang="en-GB" sz="24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lang="en-GB" sz="24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lang="en-GB" sz="2400" dirty="0">
                <a:latin typeface="Arial"/>
                <a:cs typeface="Arial"/>
              </a:rPr>
              <a:t>:</a:t>
            </a:r>
            <a:r>
              <a:rPr lang="en-GB" sz="2400" spc="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Users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are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not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authorized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their identity,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but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based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the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role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they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have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within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an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organization.</a:t>
            </a: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</a:p>
          <a:p>
            <a:pPr marL="354965" marR="193675" indent="-342900" algn="l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Wingdings" panose="05000000000000000000" pitchFamily="2" charset="2"/>
              <a:buChar char="v"/>
              <a:tabLst>
                <a:tab pos="171450" algn="l"/>
              </a:tabLst>
            </a:pPr>
            <a:r>
              <a:rPr lang="en-GB" sz="2400" spc="-10" dirty="0">
                <a:solidFill>
                  <a:srgbClr val="C80000"/>
                </a:solidFill>
                <a:latin typeface="Arial"/>
                <a:cs typeface="Arial"/>
              </a:rPr>
              <a:t>Attribute-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based</a:t>
            </a:r>
            <a:r>
              <a:rPr lang="en-GB" sz="24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access</a:t>
            </a:r>
            <a:r>
              <a:rPr lang="en-GB" sz="24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C80000"/>
                </a:solidFill>
                <a:latin typeface="Arial"/>
                <a:cs typeface="Arial"/>
              </a:rPr>
              <a:t>control</a:t>
            </a:r>
            <a:r>
              <a:rPr lang="en-GB" sz="2400" dirty="0">
                <a:latin typeface="Arial"/>
                <a:cs typeface="Arial"/>
              </a:rPr>
              <a:t>:</a:t>
            </a:r>
            <a:r>
              <a:rPr lang="en-GB" sz="2400" spc="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Attributes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of</a:t>
            </a:r>
            <a:r>
              <a:rPr lang="en-GB" sz="2400" spc="-2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users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lang="en-GB" sz="2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of</a:t>
            </a:r>
            <a:r>
              <a:rPr lang="en-GB" sz="2400" spc="-25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objects</a:t>
            </a:r>
            <a:r>
              <a:rPr lang="en-GB" sz="2400" spc="-20" dirty="0">
                <a:latin typeface="Arial"/>
                <a:cs typeface="Arial"/>
              </a:rPr>
              <a:t> they </a:t>
            </a:r>
            <a:r>
              <a:rPr lang="en-GB" sz="2400" dirty="0">
                <a:latin typeface="Arial"/>
                <a:cs typeface="Arial"/>
              </a:rPr>
              <a:t>want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to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access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are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considered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for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deciding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on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specific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dirty="0">
                <a:latin typeface="Arial"/>
                <a:cs typeface="Arial"/>
              </a:rPr>
              <a:t>access</a:t>
            </a:r>
            <a:r>
              <a:rPr lang="en-GB" sz="2400" spc="-30" dirty="0">
                <a:latin typeface="Arial"/>
                <a:cs typeface="Arial"/>
              </a:rPr>
              <a:t> </a:t>
            </a:r>
            <a:r>
              <a:rPr lang="en-GB" sz="2400" spc="-10" dirty="0">
                <a:latin typeface="Arial"/>
                <a:cs typeface="Arial"/>
              </a:rPr>
              <a:t>rule.</a:t>
            </a:r>
            <a:endParaRPr lang="en-GB" sz="2400" dirty="0">
              <a:latin typeface="Arial"/>
              <a:cs typeface="Arial"/>
            </a:endParaRPr>
          </a:p>
          <a:p>
            <a:pPr marL="170815" marR="226695" indent="-1587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AutoNum type="arabicPeriod"/>
              <a:tabLst>
                <a:tab pos="171450" algn="l"/>
              </a:tabLst>
            </a:pPr>
            <a:endParaRPr lang="en-GB" sz="2400" dirty="0">
              <a:latin typeface="Arial"/>
              <a:cs typeface="Arial"/>
            </a:endParaRPr>
          </a:p>
          <a:p>
            <a:pPr algn="l">
              <a:buFont typeface="Wingdings" panose="05000000000000000000" pitchFamily="2" charset="2"/>
              <a:buChar char="v"/>
            </a:pPr>
            <a:endParaRPr lang="en-US" altLang="en-US" dirty="0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 dirty="0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 dirty="0"/>
          </a:p>
          <a:p>
            <a:pPr algn="l">
              <a:buFont typeface="Wingdings" panose="05000000000000000000" pitchFamily="2" charset="2"/>
              <a:buChar char="v"/>
            </a:pPr>
            <a:endParaRPr lang="en-ZA" altLang="en-US" dirty="0"/>
          </a:p>
        </p:txBody>
      </p:sp>
      <p:sp>
        <p:nvSpPr>
          <p:cNvPr id="30724" name="Footer Placeholder 3">
            <a:extLst>
              <a:ext uri="{FF2B5EF4-FFF2-40B4-BE49-F238E27FC236}">
                <a16:creationId xmlns:a16="http://schemas.microsoft.com/office/drawing/2014/main" id="{700AA4EE-9BCC-D9B9-4752-CD8EAF4FE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8AE373A0-B206-48A9-C626-E3F4FF43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000"/>
              <a:t>Tanenbaum &amp; Van Steen, Distributed Systems: Principles and Paradigms, 2e, (c) 2007 Prentice-Hall, Inc. All rights reserved. 0-13-239227-5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CCC8590-2BC1-4528-238B-EEA8C481A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Protection Domains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667DD28-7F25-081B-AC52-718CA0383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hierarchical organization of </a:t>
            </a:r>
            <a:br>
              <a:rPr lang="en-US" altLang="en-US"/>
            </a:br>
            <a:r>
              <a:rPr lang="en-US" altLang="en-US"/>
              <a:t>protection domains as groups of users.</a:t>
            </a:r>
          </a:p>
        </p:txBody>
      </p:sp>
      <p:pic>
        <p:nvPicPr>
          <p:cNvPr id="33797" name="Picture 4" descr="09-27">
            <a:extLst>
              <a:ext uri="{FF2B5EF4-FFF2-40B4-BE49-F238E27FC236}">
                <a16:creationId xmlns:a16="http://schemas.microsoft.com/office/drawing/2014/main" id="{48B6C14D-7E6F-FD27-9252-DA0215ACF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2106613"/>
            <a:ext cx="82470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EDBB8F-09D9-29DF-2FA2-8CE2B6ED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68CD7-2484-4F5C-A4BF-C58D19C19442}" type="slidenum">
              <a:rPr lang="zh-TW" altLang="en-US"/>
              <a:pPr/>
              <a:t>37</a:t>
            </a:fld>
            <a:endParaRPr lang="en-US" altLang="zh-TW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D4F45EA2-1639-A9B0-088B-D4F28A4A3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Firewalls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FEB4883-A91A-78A3-B17A-2211BEA633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5145088"/>
            <a:ext cx="8588375" cy="1420812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/>
              <a:t>A common implementation of a firewall, which come in one of three types: </a:t>
            </a:r>
            <a:r>
              <a:rPr lang="en-US" altLang="zh-TW" i="1" dirty="0"/>
              <a:t>packet-filtering</a:t>
            </a:r>
            <a:r>
              <a:rPr lang="en-US" altLang="zh-TW" dirty="0"/>
              <a:t>, </a:t>
            </a:r>
            <a:r>
              <a:rPr lang="en-US" altLang="zh-TW" i="1" dirty="0"/>
              <a:t>application-level</a:t>
            </a:r>
            <a:r>
              <a:rPr lang="en-US" altLang="zh-TW" dirty="0"/>
              <a:t> (</a:t>
            </a:r>
            <a:r>
              <a:rPr lang="en-US" altLang="zh-TW" i="1" dirty="0"/>
              <a:t>proxy</a:t>
            </a:r>
            <a:r>
              <a:rPr lang="en-US" altLang="zh-TW" dirty="0"/>
              <a:t>) or </a:t>
            </a:r>
            <a:r>
              <a:rPr lang="en-US" altLang="zh-TW" i="1" dirty="0"/>
              <a:t>circuit-level</a:t>
            </a:r>
            <a:r>
              <a:rPr lang="en-US" altLang="zh-TW" dirty="0"/>
              <a:t>.</a:t>
            </a: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6F9751F0-B370-C01B-3A13-68C950862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9" t="45468" r="24345" b="39879"/>
          <a:stretch>
            <a:fillRect/>
          </a:stretch>
        </p:blipFill>
        <p:spPr bwMode="auto">
          <a:xfrm>
            <a:off x="404813" y="1236663"/>
            <a:ext cx="8439150" cy="364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nnnenbaumTemplate">
  <a:themeElements>
    <a:clrScheme name="Tannnenbaum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nenbaum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annnenbaum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nenbaum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nenbaum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nenbaum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nenbaum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nenbaum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nenbaum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5706</TotalTime>
  <Words>2717</Words>
  <Application>Microsoft Office PowerPoint</Application>
  <PresentationFormat>On-screen Show (4:3)</PresentationFormat>
  <Paragraphs>259</Paragraphs>
  <Slides>37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Times New Roman</vt:lpstr>
      <vt:lpstr>Wingdings</vt:lpstr>
      <vt:lpstr>TannnenbaumTemplate</vt:lpstr>
      <vt:lpstr>DISTRIBUTED SYSTEMS Principles and Paradigms  Chapter 9 Security  IN Ezeji</vt:lpstr>
      <vt:lpstr>Chapter Outline</vt:lpstr>
      <vt:lpstr>Introduction to security</vt:lpstr>
      <vt:lpstr>Security Threats</vt:lpstr>
      <vt:lpstr>Dependability</vt:lpstr>
      <vt:lpstr>Security policy</vt:lpstr>
      <vt:lpstr>Key Point</vt:lpstr>
      <vt:lpstr>Security Mechanisms</vt:lpstr>
      <vt:lpstr>Authentication</vt:lpstr>
      <vt:lpstr>Cryptography (1)</vt:lpstr>
      <vt:lpstr>Cryptography(2)</vt:lpstr>
      <vt:lpstr>Cryptography (3)</vt:lpstr>
      <vt:lpstr>Cryptography (4)</vt:lpstr>
      <vt:lpstr>Chapter Outline</vt:lpstr>
      <vt:lpstr>Secure Channels</vt:lpstr>
      <vt:lpstr>Authentication</vt:lpstr>
      <vt:lpstr>Authentication Based on a Shared Secret Key (1)</vt:lpstr>
      <vt:lpstr>Authentication Based on a Shared Secret Key (2)</vt:lpstr>
      <vt:lpstr>Authentication Based on a Shared Secret Key (3)</vt:lpstr>
      <vt:lpstr>Authentication Using a Key Distribution Center (1)</vt:lpstr>
      <vt:lpstr>Authentication Using a Key Distribution Center (2)</vt:lpstr>
      <vt:lpstr>Authentication Using a Key Distribution Center (3)</vt:lpstr>
      <vt:lpstr>Authentication Using a Key Distribution Center (4)</vt:lpstr>
      <vt:lpstr>Authentication Using Public Key Cryptography</vt:lpstr>
      <vt:lpstr>Message Integrity and Confidentiality</vt:lpstr>
      <vt:lpstr>Digital Signatures (1)</vt:lpstr>
      <vt:lpstr>Digital Signatures (2)</vt:lpstr>
      <vt:lpstr>Session Keys</vt:lpstr>
      <vt:lpstr>Chapter Outline</vt:lpstr>
      <vt:lpstr>Access Control</vt:lpstr>
      <vt:lpstr>General Issues in Access Control</vt:lpstr>
      <vt:lpstr>Access Control Matrix</vt:lpstr>
      <vt:lpstr>Access Control Matrix (1)</vt:lpstr>
      <vt:lpstr>Access Control Matrix (2)</vt:lpstr>
      <vt:lpstr>Access Control Policies</vt:lpstr>
      <vt:lpstr>Protection Domains</vt:lpstr>
      <vt:lpstr>Firewalls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Ijeoma Ezeji</dc:creator>
  <cp:lastModifiedBy>Ijeoma Ezeji</cp:lastModifiedBy>
  <cp:revision>2</cp:revision>
  <dcterms:modified xsi:type="dcterms:W3CDTF">2025-10-06T04:28:44Z</dcterms:modified>
</cp:coreProperties>
</file>